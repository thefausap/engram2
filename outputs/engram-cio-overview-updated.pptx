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image-background">
            <a:extLst>
              <a:ext uri="{FF2B5EF4-FFF2-40B4-BE49-F238E27FC236}">
                <a16:creationId xmlns:a16="http://schemas.microsoft.com/office/drawing/2014/main" id="{335849E0-81AF-489C-A505-2B310B8D9F71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5124450" cy="3086100"/>
          </a:xfrm>
          <a:prstGeom prst="rect">
            <a:avLst/>
          </a:prstGeom>
          <a:solidFill>
            <a:srgbClr val="151922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43700" y="1735336"/>
            <a:ext cx="4972050" cy="2796778"/>
          </a:xfrm>
          <a:prstGeom prst="rect">
            <a:avLst/>
          </a:prstGeom>
        </p:spPr>
      </p:pic>
      <p:sp>
        <p:nvSpPr>
          <p:cNvPr id="3" name="cover-accent">
            <a:extLst>
              <a:ext uri="{FF2B5EF4-FFF2-40B4-BE49-F238E27FC236}">
                <a16:creationId xmlns:a16="http://schemas.microsoft.com/office/drawing/2014/main" id="{ED2B32B4-9D56-4DA6-8A38-39D43CC7DE23}"/>
              </a:ext>
            </a:extLst>
          </p:cNvPr>
          <p:cNvSpPr>
            <a:spLocks noGrp="1"/>
          </p:cNvSpPr>
          <p:nvPr/>
        </p:nvSpPr>
        <p:spPr>
          <a:xfrm>
            <a:off x="400050" y="419100"/>
            <a:ext cx="876300" cy="7620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DB481F80-3E16-4DDE-93E2-8829ACBA0F2B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400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EXECUTIVE BRIEFING</a:t>
            </a:r>
          </a:p>
        </p:txBody>
      </p:sp>
      <p:sp>
        <p:nvSpPr>
          <p:cNvPr id="5" name="cover-name">
            <a:extLst>
              <a:ext uri="{FF2B5EF4-FFF2-40B4-BE49-F238E27FC236}">
                <a16:creationId xmlns:a16="http://schemas.microsoft.com/office/drawing/2014/main" id="{0D650E42-ED49-40AD-9629-78BC25368DA4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60960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5400" b="1">
                <a:solidFill>
                  <a:srgbClr val="0A0A0A"/>
                </a:solidFill>
              </a:defRPr>
            </a:pPr>
            <a:r>
              <a:t>ENGRAM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8F3993A0-01B4-4DD3-B5F9-A05293D25CD0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5715000" cy="1619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225">
                <a:solidFill>
                  <a:srgbClr val="0A0A0A"/>
                </a:solidFill>
              </a:defRPr>
            </a:pPr>
            <a:r>
              <a:t>A local-first,
memory-augmented
AI assistant</a:t>
            </a:r>
          </a:p>
        </p:txBody>
      </p:sp>
      <p:sp>
        <p:nvSpPr>
          <p:cNvPr id="7" name="cover-subtitle">
            <a:extLst>
              <a:ext uri="{FF2B5EF4-FFF2-40B4-BE49-F238E27FC236}">
                <a16:creationId xmlns:a16="http://schemas.microsoft.com/office/drawing/2014/main" id="{C58EB13B-55C1-45A4-9E3C-3916E174EF76}"/>
              </a:ext>
            </a:extLst>
          </p:cNvPr>
          <p:cNvSpPr>
            <a:spLocks noGrp="1"/>
          </p:cNvSpPr>
          <p:nvPr/>
        </p:nvSpPr>
        <p:spPr>
          <a:xfrm>
            <a:off x="400050" y="4533900"/>
            <a:ext cx="59055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242424"/>
                </a:solidFill>
              </a:defRPr>
            </a:pPr>
            <a:r>
              <a:t>What the PoC demonstrates, how it is controlled, and what it would take to move toward an enterprise pilot.</a:t>
            </a:r>
          </a:p>
        </p:txBody>
      </p:sp>
      <p:sp>
        <p:nvSpPr>
          <p:cNvPr id="8" name="cover-date">
            <a:extLst>
              <a:ext uri="{FF2B5EF4-FFF2-40B4-BE49-F238E27FC236}">
                <a16:creationId xmlns:a16="http://schemas.microsoft.com/office/drawing/2014/main" id="{B8FC922F-21F2-46E5-9C44-B61E7D83449B}"/>
              </a:ext>
            </a:extLst>
          </p:cNvPr>
          <p:cNvSpPr>
            <a:spLocks noGrp="1"/>
          </p:cNvSpPr>
          <p:nvPr/>
        </p:nvSpPr>
        <p:spPr>
          <a:xfrm>
            <a:off x="400050" y="6000750"/>
            <a:ext cx="4286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125">
                <a:solidFill>
                  <a:srgbClr val="5B5B5B"/>
                </a:solidFill>
              </a:defRPr>
            </a:pPr>
            <a:r>
              <a:t>CIO audience · 24 June 2026</a:t>
            </a:r>
          </a:p>
        </p:txBody>
      </p:sp>
    </p:spTree>
    <p:extLst>
      <p:ext uri="{BB962C8B-B14F-4D97-AF65-F5344CB8AC3E}">
        <p14:creationId xmlns:p14="http://schemas.microsoft.com/office/powerpoint/2010/main" val="9444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2">
            <a:extLst>
              <a:ext uri="{FF2B5EF4-FFF2-40B4-BE49-F238E27FC236}">
                <a16:creationId xmlns:a16="http://schemas.microsoft.com/office/drawing/2014/main" id="{033002C7-F13E-4572-A932-D320DFD0B63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0763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The PoC proves an operating model, not just a chatbot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D9C9C2AD-1B87-4B8C-8F6C-9F793229B781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2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AF2737DB-A569-447F-A39F-9B2C4DF9A54C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1049000" cy="933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>
                <a:solidFill>
                  <a:srgbClr val="0A0A0A"/>
                </a:solidFill>
              </a:defRPr>
            </a:pPr>
            <a:r>
              <a:t>ENGRAM combines local inference, persistent organizational memory, controlled knowledge ingestion, live verification, and an inspectable quality loop in one working experience.</a:t>
            </a:r>
          </a:p>
        </p:txBody>
      </p:sp>
      <p:sp>
        <p:nvSpPr>
          <p:cNvPr id="4" name="control-mark">
            <a:extLst>
              <a:ext uri="{FF2B5EF4-FFF2-40B4-BE49-F238E27FC236}">
                <a16:creationId xmlns:a16="http://schemas.microsoft.com/office/drawing/2014/main" id="{53529DC9-54CC-4147-B58C-E0145736A4C6}"/>
              </a:ext>
            </a:extLst>
          </p:cNvPr>
          <p:cNvSpPr>
            <a:spLocks noGrp="1"/>
          </p:cNvSpPr>
          <p:nvPr/>
        </p:nvSpPr>
        <p:spPr>
          <a:xfrm>
            <a:off x="438150" y="2933700"/>
            <a:ext cx="114300" cy="11430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rol-label">
            <a:extLst>
              <a:ext uri="{FF2B5EF4-FFF2-40B4-BE49-F238E27FC236}">
                <a16:creationId xmlns:a16="http://schemas.microsoft.com/office/drawing/2014/main" id="{69A20C00-4F8A-4449-897F-00ADEBE654FB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2190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 b="1">
                <a:solidFill>
                  <a:srgbClr val="0A0A0A"/>
                </a:solidFill>
              </a:defRPr>
            </a:pPr>
            <a:r>
              <a:t>Control</a:t>
            </a:r>
          </a:p>
        </p:txBody>
      </p:sp>
      <p:sp>
        <p:nvSpPr>
          <p:cNvPr id="6" name="control-body">
            <a:extLst>
              <a:ext uri="{FF2B5EF4-FFF2-40B4-BE49-F238E27FC236}">
                <a16:creationId xmlns:a16="http://schemas.microsoft.com/office/drawing/2014/main" id="{EBC98466-1B48-414F-96D9-DB4F82F4F767}"/>
              </a:ext>
            </a:extLst>
          </p:cNvPr>
          <p:cNvSpPr>
            <a:spLocks noGrp="1"/>
          </p:cNvSpPr>
          <p:nvPr/>
        </p:nvSpPr>
        <p:spPr>
          <a:xfrm>
            <a:off x="2990850" y="2895600"/>
            <a:ext cx="81915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The model endpoint, histories, prompts and vector memory are operated locally in the current design.</a:t>
            </a:r>
          </a:p>
        </p:txBody>
      </p:sp>
      <p:sp>
        <p:nvSpPr>
          <p:cNvPr id="7" name="continuity-mark">
            <a:extLst>
              <a:ext uri="{FF2B5EF4-FFF2-40B4-BE49-F238E27FC236}">
                <a16:creationId xmlns:a16="http://schemas.microsoft.com/office/drawing/2014/main" id="{B883A8AC-23E1-46A5-B038-E35998920035}"/>
              </a:ext>
            </a:extLst>
          </p:cNvPr>
          <p:cNvSpPr>
            <a:spLocks noGrp="1"/>
          </p:cNvSpPr>
          <p:nvPr/>
        </p:nvSpPr>
        <p:spPr>
          <a:xfrm>
            <a:off x="438150" y="3771900"/>
            <a:ext cx="114300" cy="11430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continuity-label">
            <a:extLst>
              <a:ext uri="{FF2B5EF4-FFF2-40B4-BE49-F238E27FC236}">
                <a16:creationId xmlns:a16="http://schemas.microsoft.com/office/drawing/2014/main" id="{A65C2C72-86E6-4540-BE92-D38CC72604E3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90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 b="1">
                <a:solidFill>
                  <a:srgbClr val="0A0A0A"/>
                </a:solidFill>
              </a:defRPr>
            </a:pPr>
            <a:r>
              <a:t>Continuity</a:t>
            </a:r>
          </a:p>
        </p:txBody>
      </p:sp>
      <p:sp>
        <p:nvSpPr>
          <p:cNvPr id="9" name="continuity-body">
            <a:extLst>
              <a:ext uri="{FF2B5EF4-FFF2-40B4-BE49-F238E27FC236}">
                <a16:creationId xmlns:a16="http://schemas.microsoft.com/office/drawing/2014/main" id="{784323E1-096D-45DE-AF56-BCC67D267DA7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81915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Three memory types preserve conversations, reusable knowledge and learned procedures across sessions.</a:t>
            </a:r>
          </a:p>
        </p:txBody>
      </p:sp>
      <p:sp>
        <p:nvSpPr>
          <p:cNvPr id="10" name="adaptation-mark">
            <a:extLst>
              <a:ext uri="{FF2B5EF4-FFF2-40B4-BE49-F238E27FC236}">
                <a16:creationId xmlns:a16="http://schemas.microsoft.com/office/drawing/2014/main" id="{871095E1-46A9-415D-A356-909375299D59}"/>
              </a:ext>
            </a:extLst>
          </p:cNvPr>
          <p:cNvSpPr>
            <a:spLocks noGrp="1"/>
          </p:cNvSpPr>
          <p:nvPr/>
        </p:nvSpPr>
        <p:spPr>
          <a:xfrm>
            <a:off x="438150" y="4610100"/>
            <a:ext cx="114300" cy="11430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daptation-label">
            <a:extLst>
              <a:ext uri="{FF2B5EF4-FFF2-40B4-BE49-F238E27FC236}">
                <a16:creationId xmlns:a16="http://schemas.microsoft.com/office/drawing/2014/main" id="{9B65AD48-20E1-4CE2-90C5-7197D5F1A474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190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 b="1">
                <a:solidFill>
                  <a:srgbClr val="0A0A0A"/>
                </a:solidFill>
              </a:defRPr>
            </a:pPr>
            <a:r>
              <a:t>Adaptation</a:t>
            </a:r>
          </a:p>
        </p:txBody>
      </p:sp>
      <p:sp>
        <p:nvSpPr>
          <p:cNvPr id="12" name="adaptation-body">
            <a:extLst>
              <a:ext uri="{FF2B5EF4-FFF2-40B4-BE49-F238E27FC236}">
                <a16:creationId xmlns:a16="http://schemas.microsoft.com/office/drawing/2014/main" id="{9B9ADC07-D9BE-4094-847A-963EB072D099}"/>
              </a:ext>
            </a:extLst>
          </p:cNvPr>
          <p:cNvSpPr>
            <a:spLocks noGrp="1"/>
          </p:cNvSpPr>
          <p:nvPr/>
        </p:nvSpPr>
        <p:spPr>
          <a:xfrm>
            <a:off x="2990850" y="4572000"/>
            <a:ext cx="81915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Every response can be validated, improved and translated into bounded future guidance without rewriting the personality file.</a:t>
            </a:r>
          </a:p>
        </p:txBody>
      </p:sp>
      <p:sp>
        <p:nvSpPr>
          <p:cNvPr id="13" name="exec-bottom-band">
            <a:extLst>
              <a:ext uri="{FF2B5EF4-FFF2-40B4-BE49-F238E27FC236}">
                <a16:creationId xmlns:a16="http://schemas.microsoft.com/office/drawing/2014/main" id="{72E0CA36-033F-4FE0-A192-0236744E3612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exec-band-label">
            <a:extLst>
              <a:ext uri="{FF2B5EF4-FFF2-40B4-BE49-F238E27FC236}">
                <a16:creationId xmlns:a16="http://schemas.microsoft.com/office/drawing/2014/main" id="{B2FF6987-D5DC-4FF6-A531-6B88827C3C05}"/>
              </a:ext>
            </a:extLst>
          </p:cNvPr>
          <p:cNvSpPr>
            <a:spLocks noGrp="1"/>
          </p:cNvSpPr>
          <p:nvPr/>
        </p:nvSpPr>
        <p:spPr>
          <a:xfrm>
            <a:off x="400050" y="6048375"/>
            <a:ext cx="1809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rPr lang="en-US" dirty="0"/>
              <a:t>R</a:t>
            </a:r>
            <a:r>
              <a:rPr dirty="0"/>
              <a:t>elevance</a:t>
            </a:r>
          </a:p>
        </p:txBody>
      </p:sp>
      <p:sp>
        <p:nvSpPr>
          <p:cNvPr id="15" name="exec-band-copy">
            <a:extLst>
              <a:ext uri="{FF2B5EF4-FFF2-40B4-BE49-F238E27FC236}">
                <a16:creationId xmlns:a16="http://schemas.microsoft.com/office/drawing/2014/main" id="{D977BAB9-93E6-43FD-95AD-3A9673A395C1}"/>
              </a:ext>
            </a:extLst>
          </p:cNvPr>
          <p:cNvSpPr>
            <a:spLocks noGrp="1"/>
          </p:cNvSpPr>
          <p:nvPr/>
        </p:nvSpPr>
        <p:spPr>
          <a:xfrm>
            <a:off x="2362200" y="5962650"/>
            <a:ext cx="8953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0A0A0A"/>
                </a:solidFill>
              </a:defRPr>
            </a:pPr>
            <a:r>
              <a:t>A concrete test bed for private AI patterns, knowledge continuity and governed agent behavior.</a:t>
            </a:r>
          </a:p>
        </p:txBody>
      </p:sp>
      <p:sp>
        <p:nvSpPr>
          <p:cNvPr id="16" name="source-2">
            <a:extLst>
              <a:ext uri="{FF2B5EF4-FFF2-40B4-BE49-F238E27FC236}">
                <a16:creationId xmlns:a16="http://schemas.microsoft.com/office/drawing/2014/main" id="{FAB54BDA-5256-4589-A8E9-E25057682285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9063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3">
            <a:extLst>
              <a:ext uri="{FF2B5EF4-FFF2-40B4-BE49-F238E27FC236}">
                <a16:creationId xmlns:a16="http://schemas.microsoft.com/office/drawing/2014/main" id="{5906DA0D-81E8-4D3C-BE78-9AAF2171066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239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Architecture: local orchestration around a replaceable model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2A90B160-0070-41EE-B760-47FE16739A00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3</a:t>
            </a:r>
          </a:p>
        </p:txBody>
      </p:sp>
      <p:sp>
        <p:nvSpPr>
          <p:cNvPr id="3" name="architecture-subtitle">
            <a:extLst>
              <a:ext uri="{FF2B5EF4-FFF2-40B4-BE49-F238E27FC236}">
                <a16:creationId xmlns:a16="http://schemas.microsoft.com/office/drawing/2014/main" id="{A7A03345-96CC-4EB3-B389-9FC829AF4C66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668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5B5B5B"/>
                </a:solidFill>
              </a:defRPr>
            </a:pPr>
            <a:r>
              <a:t>The model is one component. The durable value sits in memory, context assembly, ingestion and governance logic.</a:t>
            </a:r>
          </a:p>
        </p:txBody>
      </p:sp>
      <p:sp>
        <p:nvSpPr>
          <p:cNvPr id="4" name="arch-arrow-0">
            <a:extLst>
              <a:ext uri="{FF2B5EF4-FFF2-40B4-BE49-F238E27FC236}">
                <a16:creationId xmlns:a16="http://schemas.microsoft.com/office/drawing/2014/main" id="{DDF6AEDC-F9AF-444A-B5CA-353BE903669D}"/>
              </a:ext>
            </a:extLst>
          </p:cNvPr>
          <p:cNvSpPr>
            <a:spLocks noGrp="1"/>
          </p:cNvSpPr>
          <p:nvPr/>
        </p:nvSpPr>
        <p:spPr>
          <a:xfrm>
            <a:off x="2343150" y="3028950"/>
            <a:ext cx="3429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5" name="arch-arrow-1">
            <a:extLst>
              <a:ext uri="{FF2B5EF4-FFF2-40B4-BE49-F238E27FC236}">
                <a16:creationId xmlns:a16="http://schemas.microsoft.com/office/drawing/2014/main" id="{E7F897D5-15C7-4CA8-BFCF-B72CE8E060B3}"/>
              </a:ext>
            </a:extLst>
          </p:cNvPr>
          <p:cNvSpPr>
            <a:spLocks noGrp="1"/>
          </p:cNvSpPr>
          <p:nvPr/>
        </p:nvSpPr>
        <p:spPr>
          <a:xfrm>
            <a:off x="4667250" y="3028950"/>
            <a:ext cx="3429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6" name="arch-arrow-2">
            <a:extLst>
              <a:ext uri="{FF2B5EF4-FFF2-40B4-BE49-F238E27FC236}">
                <a16:creationId xmlns:a16="http://schemas.microsoft.com/office/drawing/2014/main" id="{293A84FE-2DFE-4EBA-AB73-B175D8AF555F}"/>
              </a:ext>
            </a:extLst>
          </p:cNvPr>
          <p:cNvSpPr>
            <a:spLocks noGrp="1"/>
          </p:cNvSpPr>
          <p:nvPr/>
        </p:nvSpPr>
        <p:spPr>
          <a:xfrm>
            <a:off x="6991350" y="3028950"/>
            <a:ext cx="3429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7" name="arch-arrow-3">
            <a:extLst>
              <a:ext uri="{FF2B5EF4-FFF2-40B4-BE49-F238E27FC236}">
                <a16:creationId xmlns:a16="http://schemas.microsoft.com/office/drawing/2014/main" id="{475C4971-AE0B-4136-AD50-FAE01F57F5B0}"/>
              </a:ext>
            </a:extLst>
          </p:cNvPr>
          <p:cNvSpPr>
            <a:spLocks noGrp="1"/>
          </p:cNvSpPr>
          <p:nvPr/>
        </p:nvSpPr>
        <p:spPr>
          <a:xfrm>
            <a:off x="9315450" y="3028950"/>
            <a:ext cx="3429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8" name="arch-node-0">
            <a:extLst>
              <a:ext uri="{FF2B5EF4-FFF2-40B4-BE49-F238E27FC236}">
                <a16:creationId xmlns:a16="http://schemas.microsoft.com/office/drawing/2014/main" id="{3B61F3B3-F5A3-4036-B7A9-69D6EF8FB81E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1924050" cy="22669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rch-label-0">
            <a:extLst>
              <a:ext uri="{FF2B5EF4-FFF2-40B4-BE49-F238E27FC236}">
                <a16:creationId xmlns:a16="http://schemas.microsoft.com/office/drawing/2014/main" id="{AD05C7FB-2046-46D0-985D-66E4F9CA9EFA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15049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 b="1">
                <a:solidFill>
                  <a:srgbClr val="0A0A0A"/>
                </a:solidFill>
              </a:defRPr>
            </a:pPr>
            <a:r>
              <a:t>Experience</a:t>
            </a:r>
          </a:p>
        </p:txBody>
      </p:sp>
      <p:sp>
        <p:nvSpPr>
          <p:cNvPr id="10" name="arch-body-0">
            <a:extLst>
              <a:ext uri="{FF2B5EF4-FFF2-40B4-BE49-F238E27FC236}">
                <a16:creationId xmlns:a16="http://schemas.microsoft.com/office/drawing/2014/main" id="{6CBF9483-29E5-4283-A590-B9E8CC19C20D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50495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>
                <a:solidFill>
                  <a:srgbClr val="242424"/>
                </a:solidFill>
              </a:defRPr>
            </a:pPr>
            <a:r>
              <a:t>Browser PoC
Terminal interface</a:t>
            </a:r>
          </a:p>
        </p:txBody>
      </p:sp>
      <p:sp>
        <p:nvSpPr>
          <p:cNvPr id="11" name="arch-node-1">
            <a:extLst>
              <a:ext uri="{FF2B5EF4-FFF2-40B4-BE49-F238E27FC236}">
                <a16:creationId xmlns:a16="http://schemas.microsoft.com/office/drawing/2014/main" id="{1258BF8F-809F-4247-9256-B5680CBD5AC0}"/>
              </a:ext>
            </a:extLst>
          </p:cNvPr>
          <p:cNvSpPr>
            <a:spLocks noGrp="1"/>
          </p:cNvSpPr>
          <p:nvPr/>
        </p:nvSpPr>
        <p:spPr>
          <a:xfrm>
            <a:off x="2724150" y="2362200"/>
            <a:ext cx="1924050" cy="22669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rch-label-1">
            <a:extLst>
              <a:ext uri="{FF2B5EF4-FFF2-40B4-BE49-F238E27FC236}">
                <a16:creationId xmlns:a16="http://schemas.microsoft.com/office/drawing/2014/main" id="{B80837B0-5EBC-4C61-8E13-5022948DD4EF}"/>
              </a:ext>
            </a:extLst>
          </p:cNvPr>
          <p:cNvSpPr>
            <a:spLocks noGrp="1"/>
          </p:cNvSpPr>
          <p:nvPr/>
        </p:nvSpPr>
        <p:spPr>
          <a:xfrm>
            <a:off x="2933700" y="2619375"/>
            <a:ext cx="15049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 b="1">
                <a:solidFill>
                  <a:srgbClr val="0A0A0A"/>
                </a:solidFill>
              </a:defRPr>
            </a:pPr>
            <a:r>
              <a:t>Orchestration</a:t>
            </a:r>
          </a:p>
        </p:txBody>
      </p:sp>
      <p:sp>
        <p:nvSpPr>
          <p:cNvPr id="13" name="arch-body-1">
            <a:extLst>
              <a:ext uri="{FF2B5EF4-FFF2-40B4-BE49-F238E27FC236}">
                <a16:creationId xmlns:a16="http://schemas.microsoft.com/office/drawing/2014/main" id="{D968EF23-6BBC-4D55-93DF-3683541C3B69}"/>
              </a:ext>
            </a:extLst>
          </p:cNvPr>
          <p:cNvSpPr>
            <a:spLocks noGrp="1"/>
          </p:cNvSpPr>
          <p:nvPr/>
        </p:nvSpPr>
        <p:spPr>
          <a:xfrm>
            <a:off x="2933700" y="3238500"/>
            <a:ext cx="150495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>
                <a:solidFill>
                  <a:srgbClr val="242424"/>
                </a:solidFill>
              </a:defRPr>
            </a:pPr>
            <a:r>
              <a:t>Prompt assembly
Commands
Context routing</a:t>
            </a:r>
          </a:p>
        </p:txBody>
      </p:sp>
      <p:sp>
        <p:nvSpPr>
          <p:cNvPr id="14" name="arch-node-2">
            <a:extLst>
              <a:ext uri="{FF2B5EF4-FFF2-40B4-BE49-F238E27FC236}">
                <a16:creationId xmlns:a16="http://schemas.microsoft.com/office/drawing/2014/main" id="{44A543B4-0247-4F32-814F-35A1E8024B5C}"/>
              </a:ext>
            </a:extLst>
          </p:cNvPr>
          <p:cNvSpPr>
            <a:spLocks noGrp="1"/>
          </p:cNvSpPr>
          <p:nvPr/>
        </p:nvSpPr>
        <p:spPr>
          <a:xfrm>
            <a:off x="5048250" y="2362200"/>
            <a:ext cx="1924050" cy="2266950"/>
          </a:xfrm>
          <a:prstGeom prst="rect">
            <a:avLst/>
          </a:prstGeom>
          <a:solidFill>
            <a:srgbClr val="FFF0EA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rch-label-2">
            <a:extLst>
              <a:ext uri="{FF2B5EF4-FFF2-40B4-BE49-F238E27FC236}">
                <a16:creationId xmlns:a16="http://schemas.microsoft.com/office/drawing/2014/main" id="{35EB61ED-C168-4325-A6C7-D09416AF4884}"/>
              </a:ext>
            </a:extLst>
          </p:cNvPr>
          <p:cNvSpPr>
            <a:spLocks noGrp="1"/>
          </p:cNvSpPr>
          <p:nvPr/>
        </p:nvSpPr>
        <p:spPr>
          <a:xfrm>
            <a:off x="5257800" y="2619375"/>
            <a:ext cx="15049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 b="1">
                <a:solidFill>
                  <a:srgbClr val="0A0A0A"/>
                </a:solidFill>
              </a:defRPr>
            </a:pPr>
            <a:r>
              <a:t>Intelligence</a:t>
            </a:r>
          </a:p>
        </p:txBody>
      </p:sp>
      <p:sp>
        <p:nvSpPr>
          <p:cNvPr id="16" name="arch-body-2">
            <a:extLst>
              <a:ext uri="{FF2B5EF4-FFF2-40B4-BE49-F238E27FC236}">
                <a16:creationId xmlns:a16="http://schemas.microsoft.com/office/drawing/2014/main" id="{72281B1F-1540-4D8D-A7BE-A91D071D0278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150495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>
                <a:solidFill>
                  <a:srgbClr val="242424"/>
                </a:solidFill>
              </a:defRPr>
            </a:pPr>
            <a:r>
              <a:t>Local LLM via
LM Studio
Optional Ollama path</a:t>
            </a:r>
          </a:p>
        </p:txBody>
      </p:sp>
      <p:sp>
        <p:nvSpPr>
          <p:cNvPr id="17" name="arch-node-3">
            <a:extLst>
              <a:ext uri="{FF2B5EF4-FFF2-40B4-BE49-F238E27FC236}">
                <a16:creationId xmlns:a16="http://schemas.microsoft.com/office/drawing/2014/main" id="{0708BE0C-8ADA-4157-8A04-D338A6565EEC}"/>
              </a:ext>
            </a:extLst>
          </p:cNvPr>
          <p:cNvSpPr>
            <a:spLocks noGrp="1"/>
          </p:cNvSpPr>
          <p:nvPr/>
        </p:nvSpPr>
        <p:spPr>
          <a:xfrm>
            <a:off x="7372350" y="2362200"/>
            <a:ext cx="1924050" cy="22669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rch-label-3">
            <a:extLst>
              <a:ext uri="{FF2B5EF4-FFF2-40B4-BE49-F238E27FC236}">
                <a16:creationId xmlns:a16="http://schemas.microsoft.com/office/drawing/2014/main" id="{F7486AA6-16CC-474B-98AD-5D3258181D50}"/>
              </a:ext>
            </a:extLst>
          </p:cNvPr>
          <p:cNvSpPr>
            <a:spLocks noGrp="1"/>
          </p:cNvSpPr>
          <p:nvPr/>
        </p:nvSpPr>
        <p:spPr>
          <a:xfrm>
            <a:off x="7581900" y="2619375"/>
            <a:ext cx="15049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 b="1">
                <a:solidFill>
                  <a:srgbClr val="0A0A0A"/>
                </a:solidFill>
              </a:defRPr>
            </a:pPr>
            <a:r>
              <a:t>Memory</a:t>
            </a:r>
          </a:p>
        </p:txBody>
      </p:sp>
      <p:sp>
        <p:nvSpPr>
          <p:cNvPr id="19" name="arch-body-3">
            <a:extLst>
              <a:ext uri="{FF2B5EF4-FFF2-40B4-BE49-F238E27FC236}">
                <a16:creationId xmlns:a16="http://schemas.microsoft.com/office/drawing/2014/main" id="{DDFDF0B9-D451-432B-AA83-36582A7418F3}"/>
              </a:ext>
            </a:extLst>
          </p:cNvPr>
          <p:cNvSpPr>
            <a:spLocks noGrp="1"/>
          </p:cNvSpPr>
          <p:nvPr/>
        </p:nvSpPr>
        <p:spPr>
          <a:xfrm>
            <a:off x="7581900" y="3238500"/>
            <a:ext cx="150495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>
                <a:solidFill>
                  <a:srgbClr val="242424"/>
                </a:solidFill>
              </a:defRPr>
            </a:pPr>
            <a:r>
              <a:t>ChromaDB
Episodic
Semantic
Procedural</a:t>
            </a:r>
          </a:p>
        </p:txBody>
      </p:sp>
      <p:sp>
        <p:nvSpPr>
          <p:cNvPr id="20" name="arch-node-4">
            <a:extLst>
              <a:ext uri="{FF2B5EF4-FFF2-40B4-BE49-F238E27FC236}">
                <a16:creationId xmlns:a16="http://schemas.microsoft.com/office/drawing/2014/main" id="{E6C604F0-6B36-4079-AA00-14AE5E9C47D3}"/>
              </a:ext>
            </a:extLst>
          </p:cNvPr>
          <p:cNvSpPr>
            <a:spLocks noGrp="1"/>
          </p:cNvSpPr>
          <p:nvPr/>
        </p:nvSpPr>
        <p:spPr>
          <a:xfrm>
            <a:off x="9696450" y="2362200"/>
            <a:ext cx="2095500" cy="22669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arch-label-4">
            <a:extLst>
              <a:ext uri="{FF2B5EF4-FFF2-40B4-BE49-F238E27FC236}">
                <a16:creationId xmlns:a16="http://schemas.microsoft.com/office/drawing/2014/main" id="{3351EBA4-C91B-4C2D-B99D-F751FEF5B156}"/>
              </a:ext>
            </a:extLst>
          </p:cNvPr>
          <p:cNvSpPr>
            <a:spLocks noGrp="1"/>
          </p:cNvSpPr>
          <p:nvPr/>
        </p:nvSpPr>
        <p:spPr>
          <a:xfrm>
            <a:off x="9906000" y="2619375"/>
            <a:ext cx="16764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 b="1">
                <a:solidFill>
                  <a:srgbClr val="0A0A0A"/>
                </a:solidFill>
              </a:defRPr>
            </a:pPr>
            <a:r>
              <a:t>Knowledge</a:t>
            </a:r>
          </a:p>
        </p:txBody>
      </p:sp>
      <p:sp>
        <p:nvSpPr>
          <p:cNvPr id="22" name="arch-body-4">
            <a:extLst>
              <a:ext uri="{FF2B5EF4-FFF2-40B4-BE49-F238E27FC236}">
                <a16:creationId xmlns:a16="http://schemas.microsoft.com/office/drawing/2014/main" id="{ED981B53-95A3-4A82-992F-D1277F044A9A}"/>
              </a:ext>
            </a:extLst>
          </p:cNvPr>
          <p:cNvSpPr>
            <a:spLocks noGrp="1"/>
          </p:cNvSpPr>
          <p:nvPr/>
        </p:nvSpPr>
        <p:spPr>
          <a:xfrm>
            <a:off x="9906000" y="3238500"/>
            <a:ext cx="16764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>
                <a:solidFill>
                  <a:srgbClr val="242424"/>
                </a:solidFill>
              </a:defRPr>
            </a:pPr>
            <a:r>
              <a:t>Web search + URL
PDF/text/code
Vision input</a:t>
            </a:r>
          </a:p>
        </p:txBody>
      </p:sp>
      <p:sp>
        <p:nvSpPr>
          <p:cNvPr id="23" name="arch-governance-band">
            <a:extLst>
              <a:ext uri="{FF2B5EF4-FFF2-40B4-BE49-F238E27FC236}">
                <a16:creationId xmlns:a16="http://schemas.microsoft.com/office/drawing/2014/main" id="{8E6BDA3D-9688-4A5F-AB23-7D508E4A37FF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11391900" cy="781050"/>
          </a:xfrm>
          <a:prstGeom prst="rect">
            <a:avLst/>
          </a:prstGeom>
          <a:solidFill>
            <a:srgbClr val="15192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arch-governance-label">
            <a:extLst>
              <a:ext uri="{FF2B5EF4-FFF2-40B4-BE49-F238E27FC236}">
                <a16:creationId xmlns:a16="http://schemas.microsoft.com/office/drawing/2014/main" id="{B562654D-7D25-453D-A107-9A298A566929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2266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FFFFFF"/>
                </a:solidFill>
              </a:defRPr>
            </a:pPr>
            <a:r>
              <a:t>Cross-cutting controls</a:t>
            </a:r>
          </a:p>
        </p:txBody>
      </p:sp>
      <p:sp>
        <p:nvSpPr>
          <p:cNvPr id="25" name="arch-governance-body">
            <a:extLst>
              <a:ext uri="{FF2B5EF4-FFF2-40B4-BE49-F238E27FC236}">
                <a16:creationId xmlns:a16="http://schemas.microsoft.com/office/drawing/2014/main" id="{01A87117-8703-4A79-AB72-E0CE7BB2B331}"/>
              </a:ext>
            </a:extLst>
          </p:cNvPr>
          <p:cNvSpPr>
            <a:spLocks noGrp="1"/>
          </p:cNvSpPr>
          <p:nvPr/>
        </p:nvSpPr>
        <p:spPr>
          <a:xfrm>
            <a:off x="3048000" y="5257800"/>
            <a:ext cx="8382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FFFFFF"/>
                </a:solidFill>
              </a:defRPr>
            </a:pPr>
            <a:r>
              <a:t>Character prompt · user identity · validation · adaptive guidance · backup/reset · memory inspection</a:t>
            </a:r>
          </a:p>
        </p:txBody>
      </p:sp>
      <p:sp>
        <p:nvSpPr>
          <p:cNvPr id="26" name="source-3">
            <a:extLst>
              <a:ext uri="{FF2B5EF4-FFF2-40B4-BE49-F238E27FC236}">
                <a16:creationId xmlns:a16="http://schemas.microsoft.com/office/drawing/2014/main" id="{1E315480-0B03-47A1-9F2F-AB7426AA4963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48389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4">
            <a:extLst>
              <a:ext uri="{FF2B5EF4-FFF2-40B4-BE49-F238E27FC236}">
                <a16:creationId xmlns:a16="http://schemas.microsoft.com/office/drawing/2014/main" id="{7FBC45AE-2AE1-4A11-948F-A736E4EA99B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7810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A broad PoC with enterprise-relevant primitives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A85A9A65-9B87-4BE6-BBC6-2CC435299985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4</a:t>
            </a:r>
          </a:p>
        </p:txBody>
      </p:sp>
      <p:sp>
        <p:nvSpPr>
          <p:cNvPr id="3" name="metric-subtitle">
            <a:extLst>
              <a:ext uri="{FF2B5EF4-FFF2-40B4-BE49-F238E27FC236}">
                <a16:creationId xmlns:a16="http://schemas.microsoft.com/office/drawing/2014/main" id="{351553FE-C42C-4F51-904C-E9E8F426D73B}"/>
              </a:ext>
            </a:extLst>
          </p:cNvPr>
          <p:cNvSpPr>
            <a:spLocks noGrp="1"/>
          </p:cNvSpPr>
          <p:nvPr/>
        </p:nvSpPr>
        <p:spPr>
          <a:xfrm>
            <a:off x="7620000" y="485775"/>
            <a:ext cx="3810000" cy="4000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575">
                <a:solidFill>
                  <a:srgbClr val="5B5B5B"/>
                </a:solidFill>
              </a:defRPr>
            </a:pPr>
            <a:r>
              <a:t>Implementation facts, not benchmark claims</a:t>
            </a:r>
          </a:p>
        </p:txBody>
      </p:sp>
      <p:sp>
        <p:nvSpPr>
          <p:cNvPr id="4" name="metric-card-0">
            <a:extLst>
              <a:ext uri="{FF2B5EF4-FFF2-40B4-BE49-F238E27FC236}">
                <a16:creationId xmlns:a16="http://schemas.microsoft.com/office/drawing/2014/main" id="{832C8837-D4EB-46AE-A6F4-D6F4632E1601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571750" cy="2762250"/>
          </a:xfrm>
          <a:prstGeom prst="rect">
            <a:avLst/>
          </a:prstGeom>
          <a:solidFill>
            <a:srgbClr val="FFF0EA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metric-stat-0">
            <a:extLst>
              <a:ext uri="{FF2B5EF4-FFF2-40B4-BE49-F238E27FC236}">
                <a16:creationId xmlns:a16="http://schemas.microsoft.com/office/drawing/2014/main" id="{AD4749E4-ABEE-4B33-B757-B6431B28050E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21145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4350" b="1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6" name="metric-label-0">
            <a:extLst>
              <a:ext uri="{FF2B5EF4-FFF2-40B4-BE49-F238E27FC236}">
                <a16:creationId xmlns:a16="http://schemas.microsoft.com/office/drawing/2014/main" id="{DA5177E9-9DC8-4469-A328-FC16A0B565EB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 b="1">
                <a:solidFill>
                  <a:srgbClr val="0A0A0A"/>
                </a:solidFill>
              </a:defRPr>
            </a:pPr>
            <a:r>
              <a:t>memory domains</a:t>
            </a:r>
          </a:p>
        </p:txBody>
      </p:sp>
      <p:sp>
        <p:nvSpPr>
          <p:cNvPr id="7" name="metric-body-0">
            <a:extLst>
              <a:ext uri="{FF2B5EF4-FFF2-40B4-BE49-F238E27FC236}">
                <a16:creationId xmlns:a16="http://schemas.microsoft.com/office/drawing/2014/main" id="{CD1DF94F-AABC-40E9-9DC7-70CB17BF4FD8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2114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Events, knowledge and procedures are separated.</a:t>
            </a:r>
          </a:p>
        </p:txBody>
      </p:sp>
      <p:sp>
        <p:nvSpPr>
          <p:cNvPr id="8" name="metric-card-1">
            <a:extLst>
              <a:ext uri="{FF2B5EF4-FFF2-40B4-BE49-F238E27FC236}">
                <a16:creationId xmlns:a16="http://schemas.microsoft.com/office/drawing/2014/main" id="{DCB33A04-6566-466C-8D3A-ABC6AF8D9550}"/>
              </a:ext>
            </a:extLst>
          </p:cNvPr>
          <p:cNvSpPr>
            <a:spLocks noGrp="1"/>
          </p:cNvSpPr>
          <p:nvPr/>
        </p:nvSpPr>
        <p:spPr>
          <a:xfrm>
            <a:off x="3343275" y="2000250"/>
            <a:ext cx="2571750" cy="27622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metric-stat-1">
            <a:extLst>
              <a:ext uri="{FF2B5EF4-FFF2-40B4-BE49-F238E27FC236}">
                <a16:creationId xmlns:a16="http://schemas.microsoft.com/office/drawing/2014/main" id="{6BC4B0C3-D932-4A32-B86B-7DD542BC119E}"/>
              </a:ext>
            </a:extLst>
          </p:cNvPr>
          <p:cNvSpPr>
            <a:spLocks noGrp="1"/>
          </p:cNvSpPr>
          <p:nvPr/>
        </p:nvSpPr>
        <p:spPr>
          <a:xfrm>
            <a:off x="3571875" y="2247900"/>
            <a:ext cx="21145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4350" b="1">
                <a:solidFill>
                  <a:srgbClr val="0A0A0A"/>
                </a:solidFill>
              </a:defRPr>
            </a:pPr>
            <a:r>
              <a:t>35</a:t>
            </a:r>
          </a:p>
        </p:txBody>
      </p:sp>
      <p:sp>
        <p:nvSpPr>
          <p:cNvPr id="10" name="metric-label-1">
            <a:extLst>
              <a:ext uri="{FF2B5EF4-FFF2-40B4-BE49-F238E27FC236}">
                <a16:creationId xmlns:a16="http://schemas.microsoft.com/office/drawing/2014/main" id="{B3D8990B-DC96-4109-9106-38F9BA0F3686}"/>
              </a:ext>
            </a:extLst>
          </p:cNvPr>
          <p:cNvSpPr>
            <a:spLocks noGrp="1"/>
          </p:cNvSpPr>
          <p:nvPr/>
        </p:nvSpPr>
        <p:spPr>
          <a:xfrm>
            <a:off x="3571875" y="3133725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 b="1">
                <a:solidFill>
                  <a:srgbClr val="0A0A0A"/>
                </a:solidFill>
              </a:defRPr>
            </a:pPr>
            <a:r>
              <a:t>conversation turns</a:t>
            </a:r>
          </a:p>
        </p:txBody>
      </p:sp>
      <p:sp>
        <p:nvSpPr>
          <p:cNvPr id="11" name="metric-body-1">
            <a:extLst>
              <a:ext uri="{FF2B5EF4-FFF2-40B4-BE49-F238E27FC236}">
                <a16:creationId xmlns:a16="http://schemas.microsoft.com/office/drawing/2014/main" id="{A6619F3D-6340-4292-9134-D6040287E720}"/>
              </a:ext>
            </a:extLst>
          </p:cNvPr>
          <p:cNvSpPr>
            <a:spLocks noGrp="1"/>
          </p:cNvSpPr>
          <p:nvPr/>
        </p:nvSpPr>
        <p:spPr>
          <a:xfrm>
            <a:off x="3571875" y="3714750"/>
            <a:ext cx="2114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Recent dialogue is retained before trimming.</a:t>
            </a:r>
          </a:p>
        </p:txBody>
      </p:sp>
      <p:sp>
        <p:nvSpPr>
          <p:cNvPr id="12" name="metric-card-2">
            <a:extLst>
              <a:ext uri="{FF2B5EF4-FFF2-40B4-BE49-F238E27FC236}">
                <a16:creationId xmlns:a16="http://schemas.microsoft.com/office/drawing/2014/main" id="{6DB9711E-48E7-4D58-9525-98A0D42DDED0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2571750" cy="27622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metric-stat-2">
            <a:extLst>
              <a:ext uri="{FF2B5EF4-FFF2-40B4-BE49-F238E27FC236}">
                <a16:creationId xmlns:a16="http://schemas.microsoft.com/office/drawing/2014/main" id="{DB5AE3F5-936C-4D8A-B96C-2F65AFEBB59A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21145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4350" b="1">
                <a:solidFill>
                  <a:srgbClr val="0A0A0A"/>
                </a:solidFill>
              </a:defRPr>
            </a:pPr>
            <a:r>
              <a:t>5 MB</a:t>
            </a:r>
          </a:p>
        </p:txBody>
      </p:sp>
      <p:sp>
        <p:nvSpPr>
          <p:cNvPr id="14" name="metric-label-2">
            <a:extLst>
              <a:ext uri="{FF2B5EF4-FFF2-40B4-BE49-F238E27FC236}">
                <a16:creationId xmlns:a16="http://schemas.microsoft.com/office/drawing/2014/main" id="{2687FDFB-3B22-4BA0-B998-ED208A84D0DA}"/>
              </a:ext>
            </a:extLst>
          </p:cNvPr>
          <p:cNvSpPr>
            <a:spLocks noGrp="1"/>
          </p:cNvSpPr>
          <p:nvPr/>
        </p:nvSpPr>
        <p:spPr>
          <a:xfrm>
            <a:off x="6515100" y="3133725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 b="1">
                <a:solidFill>
                  <a:srgbClr val="0A0A0A"/>
                </a:solidFill>
              </a:defRPr>
            </a:pPr>
            <a:r>
              <a:t>file-ingest limit</a:t>
            </a:r>
          </a:p>
        </p:txBody>
      </p:sp>
      <p:sp>
        <p:nvSpPr>
          <p:cNvPr id="15" name="metric-body-2">
            <a:extLst>
              <a:ext uri="{FF2B5EF4-FFF2-40B4-BE49-F238E27FC236}">
                <a16:creationId xmlns:a16="http://schemas.microsoft.com/office/drawing/2014/main" id="{00D81A82-4365-437F-8F57-671F562779F7}"/>
              </a:ext>
            </a:extLst>
          </p:cNvPr>
          <p:cNvSpPr>
            <a:spLocks noGrp="1"/>
          </p:cNvSpPr>
          <p:nvPr/>
        </p:nvSpPr>
        <p:spPr>
          <a:xfrm>
            <a:off x="6515100" y="3714750"/>
            <a:ext cx="2114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Text and source code are validated before storage.</a:t>
            </a:r>
          </a:p>
        </p:txBody>
      </p:sp>
      <p:sp>
        <p:nvSpPr>
          <p:cNvPr id="16" name="metric-card-3">
            <a:extLst>
              <a:ext uri="{FF2B5EF4-FFF2-40B4-BE49-F238E27FC236}">
                <a16:creationId xmlns:a16="http://schemas.microsoft.com/office/drawing/2014/main" id="{1EC4F235-E77A-481B-8975-6587C4FCC346}"/>
              </a:ext>
            </a:extLst>
          </p:cNvPr>
          <p:cNvSpPr>
            <a:spLocks noGrp="1"/>
          </p:cNvSpPr>
          <p:nvPr/>
        </p:nvSpPr>
        <p:spPr>
          <a:xfrm>
            <a:off x="9229725" y="2000250"/>
            <a:ext cx="2571750" cy="27622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metric-stat-3">
            <a:extLst>
              <a:ext uri="{FF2B5EF4-FFF2-40B4-BE49-F238E27FC236}">
                <a16:creationId xmlns:a16="http://schemas.microsoft.com/office/drawing/2014/main" id="{2DB56032-BD5B-4147-A4F4-613A4DFE13D5}"/>
              </a:ext>
            </a:extLst>
          </p:cNvPr>
          <p:cNvSpPr>
            <a:spLocks noGrp="1"/>
          </p:cNvSpPr>
          <p:nvPr/>
        </p:nvSpPr>
        <p:spPr>
          <a:xfrm>
            <a:off x="9458325" y="2247900"/>
            <a:ext cx="21145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4350" b="1">
                <a:solidFill>
                  <a:srgbClr val="0A0A0A"/>
                </a:solidFill>
              </a:defRPr>
            </a:pPr>
            <a:r>
              <a:t>8</a:t>
            </a:r>
          </a:p>
        </p:txBody>
      </p:sp>
      <p:sp>
        <p:nvSpPr>
          <p:cNvPr id="18" name="metric-label-3">
            <a:extLst>
              <a:ext uri="{FF2B5EF4-FFF2-40B4-BE49-F238E27FC236}">
                <a16:creationId xmlns:a16="http://schemas.microsoft.com/office/drawing/2014/main" id="{095B0E46-9367-4A04-BDD1-BF94A90DCAC0}"/>
              </a:ext>
            </a:extLst>
          </p:cNvPr>
          <p:cNvSpPr>
            <a:spLocks noGrp="1"/>
          </p:cNvSpPr>
          <p:nvPr/>
        </p:nvSpPr>
        <p:spPr>
          <a:xfrm>
            <a:off x="9458325" y="3133725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 b="1">
                <a:solidFill>
                  <a:srgbClr val="0A0A0A"/>
                </a:solidFill>
              </a:defRPr>
            </a:pPr>
            <a:r>
              <a:t>adaptive rules</a:t>
            </a:r>
          </a:p>
        </p:txBody>
      </p:sp>
      <p:sp>
        <p:nvSpPr>
          <p:cNvPr id="19" name="metric-body-3">
            <a:extLst>
              <a:ext uri="{FF2B5EF4-FFF2-40B4-BE49-F238E27FC236}">
                <a16:creationId xmlns:a16="http://schemas.microsoft.com/office/drawing/2014/main" id="{8BCC0D15-B480-481E-94EC-8E2958C416AB}"/>
              </a:ext>
            </a:extLst>
          </p:cNvPr>
          <p:cNvSpPr>
            <a:spLocks noGrp="1"/>
          </p:cNvSpPr>
          <p:nvPr/>
        </p:nvSpPr>
        <p:spPr>
          <a:xfrm>
            <a:off x="9458325" y="3714750"/>
            <a:ext cx="2114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Five corrective and three reinforcing rules maximum.</a:t>
            </a:r>
          </a:p>
        </p:txBody>
      </p:sp>
      <p:sp>
        <p:nvSpPr>
          <p:cNvPr id="20" name="metric-band">
            <a:extLst>
              <a:ext uri="{FF2B5EF4-FFF2-40B4-BE49-F238E27FC236}">
                <a16:creationId xmlns:a16="http://schemas.microsoft.com/office/drawing/2014/main" id="{C63C09B8-BBEC-4713-BFCC-584E1CAC8EE5}"/>
              </a:ext>
            </a:extLst>
          </p:cNvPr>
          <p:cNvSpPr>
            <a:spLocks noGrp="1"/>
          </p:cNvSpPr>
          <p:nvPr/>
        </p:nvSpPr>
        <p:spPr>
          <a:xfrm>
            <a:off x="0" y="5391150"/>
            <a:ext cx="12192000" cy="1466850"/>
          </a:xfrm>
          <a:prstGeom prst="rect">
            <a:avLst/>
          </a:prstGeo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metric-band-label">
            <a:extLst>
              <a:ext uri="{FF2B5EF4-FFF2-40B4-BE49-F238E27FC236}">
                <a16:creationId xmlns:a16="http://schemas.microsoft.com/office/drawing/2014/main" id="{BAF90E0E-057D-4851-9F23-42B3305A8711}"/>
              </a:ext>
            </a:extLst>
          </p:cNvPr>
          <p:cNvSpPr>
            <a:spLocks noGrp="1"/>
          </p:cNvSpPr>
          <p:nvPr/>
        </p:nvSpPr>
        <p:spPr>
          <a:xfrm>
            <a:off x="400050" y="5695950"/>
            <a:ext cx="1809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Also implemented</a:t>
            </a:r>
          </a:p>
        </p:txBody>
      </p:sp>
      <p:sp>
        <p:nvSpPr>
          <p:cNvPr id="22" name="metric-band-copy">
            <a:extLst>
              <a:ext uri="{FF2B5EF4-FFF2-40B4-BE49-F238E27FC236}">
                <a16:creationId xmlns:a16="http://schemas.microsoft.com/office/drawing/2014/main" id="{783B9F59-3914-4196-92F8-A2F127C63629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9048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Web verification · direct URL reading · PDF ingestion · text/code ingestion · image analysis · Markdown/LaTeX rendering</a:t>
            </a:r>
          </a:p>
        </p:txBody>
      </p:sp>
      <p:sp>
        <p:nvSpPr>
          <p:cNvPr id="23" name="source-4">
            <a:extLst>
              <a:ext uri="{FF2B5EF4-FFF2-40B4-BE49-F238E27FC236}">
                <a16:creationId xmlns:a16="http://schemas.microsoft.com/office/drawing/2014/main" id="{4850CF72-B3BA-46D9-A255-3DFB3A05297C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96305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5">
            <a:extLst>
              <a:ext uri="{FF2B5EF4-FFF2-40B4-BE49-F238E27FC236}">
                <a16:creationId xmlns:a16="http://schemas.microsoft.com/office/drawing/2014/main" id="{B5EB31EE-EF07-4D58-B4EF-BC59DFA4F09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Capability scope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BE5D7FFF-3726-4F30-A4C0-9EFB01394989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5</a:t>
            </a:r>
          </a:p>
        </p:txBody>
      </p:sp>
      <p:sp>
        <p:nvSpPr>
          <p:cNvPr id="3" name="capabilities-intro">
            <a:extLst>
              <a:ext uri="{FF2B5EF4-FFF2-40B4-BE49-F238E27FC236}">
                <a16:creationId xmlns:a16="http://schemas.microsoft.com/office/drawing/2014/main" id="{D143A701-56A2-4C98-808D-97A5B9C57CE0}"/>
              </a:ext>
            </a:extLst>
          </p:cNvPr>
          <p:cNvSpPr>
            <a:spLocks noGrp="1"/>
          </p:cNvSpPr>
          <p:nvPr/>
        </p:nvSpPr>
        <p:spPr>
          <a:xfrm>
            <a:off x="4324350" y="457200"/>
            <a:ext cx="7239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5B5B5B"/>
                </a:solidFill>
              </a:defRPr>
            </a:pPr>
            <a:r>
              <a:t>Six capability domains now work together in one local experience.</a:t>
            </a:r>
          </a:p>
        </p:txBody>
      </p:sp>
      <p:sp>
        <p:nvSpPr>
          <p:cNvPr id="4" name="cap-label-0">
            <a:extLst>
              <a:ext uri="{FF2B5EF4-FFF2-40B4-BE49-F238E27FC236}">
                <a16:creationId xmlns:a16="http://schemas.microsoft.com/office/drawing/2014/main" id="{ECC81F40-B4CD-4E75-80D2-FD7AC01EE2CE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MEMORY</a:t>
            </a:r>
          </a:p>
        </p:txBody>
      </p:sp>
      <p:sp>
        <p:nvSpPr>
          <p:cNvPr id="5" name="cap-body-0">
            <a:extLst>
              <a:ext uri="{FF2B5EF4-FFF2-40B4-BE49-F238E27FC236}">
                <a16:creationId xmlns:a16="http://schemas.microsoft.com/office/drawing/2014/main" id="{D213DD40-8DAD-4119-A81E-42F7FE525F9B}"/>
              </a:ext>
            </a:extLst>
          </p:cNvPr>
          <p:cNvSpPr>
            <a:spLocks noGrp="1"/>
          </p:cNvSpPr>
          <p:nvPr/>
        </p:nvSpPr>
        <p:spPr>
          <a:xfrm>
            <a:off x="2571750" y="134302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Semantic recall across conversations, facts and reusable procedures</a:t>
            </a:r>
          </a:p>
        </p:txBody>
      </p:sp>
      <p:sp>
        <p:nvSpPr>
          <p:cNvPr id="6" name="cap-rule-0">
            <a:extLst>
              <a:ext uri="{FF2B5EF4-FFF2-40B4-BE49-F238E27FC236}">
                <a16:creationId xmlns:a16="http://schemas.microsoft.com/office/drawing/2014/main" id="{8BB0F59B-2D45-4870-A974-78FA0EA7F4C0}"/>
              </a:ext>
            </a:extLst>
          </p:cNvPr>
          <p:cNvSpPr>
            <a:spLocks noGrp="1"/>
          </p:cNvSpPr>
          <p:nvPr/>
        </p:nvSpPr>
        <p:spPr>
          <a:xfrm>
            <a:off x="2571750" y="189547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cap-label-1">
            <a:extLst>
              <a:ext uri="{FF2B5EF4-FFF2-40B4-BE49-F238E27FC236}">
                <a16:creationId xmlns:a16="http://schemas.microsoft.com/office/drawing/2014/main" id="{41C9CD58-F604-4B6F-BBDD-A478A677C5C2}"/>
              </a:ext>
            </a:extLst>
          </p:cNvPr>
          <p:cNvSpPr>
            <a:spLocks noGrp="1"/>
          </p:cNvSpPr>
          <p:nvPr/>
        </p:nvSpPr>
        <p:spPr>
          <a:xfrm>
            <a:off x="400050" y="216217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KNOWLEDGE</a:t>
            </a:r>
          </a:p>
        </p:txBody>
      </p:sp>
      <p:sp>
        <p:nvSpPr>
          <p:cNvPr id="8" name="cap-body-1">
            <a:extLst>
              <a:ext uri="{FF2B5EF4-FFF2-40B4-BE49-F238E27FC236}">
                <a16:creationId xmlns:a16="http://schemas.microsoft.com/office/drawing/2014/main" id="{E2BC94BA-DA7E-4FE0-ABA0-E293B6213F8C}"/>
              </a:ext>
            </a:extLst>
          </p:cNvPr>
          <p:cNvSpPr>
            <a:spLocks noGrp="1"/>
          </p:cNvSpPr>
          <p:nvPr/>
        </p:nvSpPr>
        <p:spPr>
          <a:xfrm>
            <a:off x="2571750" y="212407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Ingest URLs, PDFs, text files and source code into vector memory</a:t>
            </a:r>
          </a:p>
        </p:txBody>
      </p:sp>
      <p:sp>
        <p:nvSpPr>
          <p:cNvPr id="9" name="cap-rule-1">
            <a:extLst>
              <a:ext uri="{FF2B5EF4-FFF2-40B4-BE49-F238E27FC236}">
                <a16:creationId xmlns:a16="http://schemas.microsoft.com/office/drawing/2014/main" id="{4B13D0E7-54E9-44CC-81CD-7C5EF489FF0B}"/>
              </a:ext>
            </a:extLst>
          </p:cNvPr>
          <p:cNvSpPr>
            <a:spLocks noGrp="1"/>
          </p:cNvSpPr>
          <p:nvPr/>
        </p:nvSpPr>
        <p:spPr>
          <a:xfrm>
            <a:off x="2571750" y="267652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cap-label-2">
            <a:extLst>
              <a:ext uri="{FF2B5EF4-FFF2-40B4-BE49-F238E27FC236}">
                <a16:creationId xmlns:a16="http://schemas.microsoft.com/office/drawing/2014/main" id="{45A47E13-F838-47F9-B228-25CD0F489487}"/>
              </a:ext>
            </a:extLst>
          </p:cNvPr>
          <p:cNvSpPr>
            <a:spLocks noGrp="1"/>
          </p:cNvSpPr>
          <p:nvPr/>
        </p:nvSpPr>
        <p:spPr>
          <a:xfrm>
            <a:off x="400050" y="294322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VERIFICATION</a:t>
            </a:r>
          </a:p>
        </p:txBody>
      </p:sp>
      <p:sp>
        <p:nvSpPr>
          <p:cNvPr id="11" name="cap-body-2">
            <a:extLst>
              <a:ext uri="{FF2B5EF4-FFF2-40B4-BE49-F238E27FC236}">
                <a16:creationId xmlns:a16="http://schemas.microsoft.com/office/drawing/2014/main" id="{79446198-7027-47DF-8E96-3E74705F4DB2}"/>
              </a:ext>
            </a:extLst>
          </p:cNvPr>
          <p:cNvSpPr>
            <a:spLocks noGrp="1"/>
          </p:cNvSpPr>
          <p:nvPr/>
        </p:nvSpPr>
        <p:spPr>
          <a:xfrm>
            <a:off x="2571750" y="290512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DuckDuckGo search and direct page retrieval for current or specific facts</a:t>
            </a:r>
          </a:p>
        </p:txBody>
      </p:sp>
      <p:sp>
        <p:nvSpPr>
          <p:cNvPr id="12" name="cap-rule-2">
            <a:extLst>
              <a:ext uri="{FF2B5EF4-FFF2-40B4-BE49-F238E27FC236}">
                <a16:creationId xmlns:a16="http://schemas.microsoft.com/office/drawing/2014/main" id="{93C9D765-F7FC-41D8-94FA-6E0FF668C002}"/>
              </a:ext>
            </a:extLst>
          </p:cNvPr>
          <p:cNvSpPr>
            <a:spLocks noGrp="1"/>
          </p:cNvSpPr>
          <p:nvPr/>
        </p:nvSpPr>
        <p:spPr>
          <a:xfrm>
            <a:off x="2571750" y="345757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cap-label-3">
            <a:extLst>
              <a:ext uri="{FF2B5EF4-FFF2-40B4-BE49-F238E27FC236}">
                <a16:creationId xmlns:a16="http://schemas.microsoft.com/office/drawing/2014/main" id="{FA74F326-DB9C-4685-97EC-9112A66B5405}"/>
              </a:ext>
            </a:extLst>
          </p:cNvPr>
          <p:cNvSpPr>
            <a:spLocks noGrp="1"/>
          </p:cNvSpPr>
          <p:nvPr/>
        </p:nvSpPr>
        <p:spPr>
          <a:xfrm>
            <a:off x="400050" y="372427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MULTIMODAL</a:t>
            </a:r>
          </a:p>
        </p:txBody>
      </p:sp>
      <p:sp>
        <p:nvSpPr>
          <p:cNvPr id="14" name="cap-body-3">
            <a:extLst>
              <a:ext uri="{FF2B5EF4-FFF2-40B4-BE49-F238E27FC236}">
                <a16:creationId xmlns:a16="http://schemas.microsoft.com/office/drawing/2014/main" id="{459ADF4D-4445-44FE-A46F-D8147AAC25EA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Image input path for charts, diagrams and screenshots when the model supports vision</a:t>
            </a:r>
          </a:p>
        </p:txBody>
      </p:sp>
      <p:sp>
        <p:nvSpPr>
          <p:cNvPr id="15" name="cap-rule-3">
            <a:extLst>
              <a:ext uri="{FF2B5EF4-FFF2-40B4-BE49-F238E27FC236}">
                <a16:creationId xmlns:a16="http://schemas.microsoft.com/office/drawing/2014/main" id="{2706AB74-423B-44DF-A1ED-F980C7447D54}"/>
              </a:ext>
            </a:extLst>
          </p:cNvPr>
          <p:cNvSpPr>
            <a:spLocks noGrp="1"/>
          </p:cNvSpPr>
          <p:nvPr/>
        </p:nvSpPr>
        <p:spPr>
          <a:xfrm>
            <a:off x="2571750" y="423862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cap-label-4">
            <a:extLst>
              <a:ext uri="{FF2B5EF4-FFF2-40B4-BE49-F238E27FC236}">
                <a16:creationId xmlns:a16="http://schemas.microsoft.com/office/drawing/2014/main" id="{8CCB882D-C57B-4DC9-8BED-89A203A682F1}"/>
              </a:ext>
            </a:extLst>
          </p:cNvPr>
          <p:cNvSpPr>
            <a:spLocks noGrp="1"/>
          </p:cNvSpPr>
          <p:nvPr/>
        </p:nvSpPr>
        <p:spPr>
          <a:xfrm>
            <a:off x="400050" y="450532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5B5B5B"/>
                </a:solidFill>
              </a:defRPr>
            </a:pPr>
            <a:r>
              <a:t>EXPERIENCE</a:t>
            </a:r>
          </a:p>
        </p:txBody>
      </p:sp>
      <p:sp>
        <p:nvSpPr>
          <p:cNvPr id="17" name="cap-body-4">
            <a:extLst>
              <a:ext uri="{FF2B5EF4-FFF2-40B4-BE49-F238E27FC236}">
                <a16:creationId xmlns:a16="http://schemas.microsoft.com/office/drawing/2014/main" id="{AC86C22A-8ECA-467C-8BF1-5A5AC404AB5A}"/>
              </a:ext>
            </a:extLst>
          </p:cNvPr>
          <p:cNvSpPr>
            <a:spLocks noGrp="1"/>
          </p:cNvSpPr>
          <p:nvPr/>
        </p:nvSpPr>
        <p:spPr>
          <a:xfrm>
            <a:off x="2571750" y="446722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Browser UI with state visualization, memory inspection and rich Markdown/math/code output</a:t>
            </a:r>
          </a:p>
        </p:txBody>
      </p:sp>
      <p:sp>
        <p:nvSpPr>
          <p:cNvPr id="18" name="cap-rule-4">
            <a:extLst>
              <a:ext uri="{FF2B5EF4-FFF2-40B4-BE49-F238E27FC236}">
                <a16:creationId xmlns:a16="http://schemas.microsoft.com/office/drawing/2014/main" id="{9F2DCB4F-213B-4B54-9D28-60E18FFED4BC}"/>
              </a:ext>
            </a:extLst>
          </p:cNvPr>
          <p:cNvSpPr>
            <a:spLocks noGrp="1"/>
          </p:cNvSpPr>
          <p:nvPr/>
        </p:nvSpPr>
        <p:spPr>
          <a:xfrm>
            <a:off x="2571750" y="501967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cap-label-5">
            <a:extLst>
              <a:ext uri="{FF2B5EF4-FFF2-40B4-BE49-F238E27FC236}">
                <a16:creationId xmlns:a16="http://schemas.microsoft.com/office/drawing/2014/main" id="{31FF3192-07FA-4BFA-87F9-2081042C0C38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905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00" b="1">
                <a:solidFill>
                  <a:srgbClr val="FF6B35"/>
                </a:solidFill>
              </a:defRPr>
            </a:pPr>
            <a:r>
              <a:t>QUALITY</a:t>
            </a:r>
          </a:p>
        </p:txBody>
      </p:sp>
      <p:sp>
        <p:nvSpPr>
          <p:cNvPr id="20" name="cap-body-5">
            <a:extLst>
              <a:ext uri="{FF2B5EF4-FFF2-40B4-BE49-F238E27FC236}">
                <a16:creationId xmlns:a16="http://schemas.microsoft.com/office/drawing/2014/main" id="{F232DA10-AE2A-4E22-A093-F8A298013977}"/>
              </a:ext>
            </a:extLst>
          </p:cNvPr>
          <p:cNvSpPr>
            <a:spLocks noGrp="1"/>
          </p:cNvSpPr>
          <p:nvPr/>
        </p:nvSpPr>
        <p:spPr>
          <a:xfrm>
            <a:off x="2571750" y="5248275"/>
            <a:ext cx="8763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75">
                <a:solidFill>
                  <a:srgbClr val="0A0A0A"/>
                </a:solidFill>
              </a:defRPr>
            </a:pPr>
            <a:r>
              <a:t>Self-critique, missing-code repair, tool-token cleanup and bounded adaptive prompt guidance</a:t>
            </a:r>
          </a:p>
        </p:txBody>
      </p:sp>
      <p:sp>
        <p:nvSpPr>
          <p:cNvPr id="21" name="cap-rule-5">
            <a:extLst>
              <a:ext uri="{FF2B5EF4-FFF2-40B4-BE49-F238E27FC236}">
                <a16:creationId xmlns:a16="http://schemas.microsoft.com/office/drawing/2014/main" id="{D6557EC9-93BC-4C67-935C-A73CAD25341D}"/>
              </a:ext>
            </a:extLst>
          </p:cNvPr>
          <p:cNvSpPr>
            <a:spLocks noGrp="1"/>
          </p:cNvSpPr>
          <p:nvPr/>
        </p:nvSpPr>
        <p:spPr>
          <a:xfrm>
            <a:off x="2571750" y="5800725"/>
            <a:ext cx="87630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ource-5">
            <a:extLst>
              <a:ext uri="{FF2B5EF4-FFF2-40B4-BE49-F238E27FC236}">
                <a16:creationId xmlns:a16="http://schemas.microsoft.com/office/drawing/2014/main" id="{3FAF4AB0-1F3B-45B6-A0C0-661DB0DA6A48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79034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6">
            <a:extLst>
              <a:ext uri="{FF2B5EF4-FFF2-40B4-BE49-F238E27FC236}">
                <a16:creationId xmlns:a16="http://schemas.microsoft.com/office/drawing/2014/main" id="{9C8F6091-DA0E-4747-B49F-ACC264148E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239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Adaptive quality is bounded and inspectable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18F0568D-F28F-4E6E-AC8F-6014B48C819F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6</a:t>
            </a:r>
          </a:p>
        </p:txBody>
      </p:sp>
      <p:sp>
        <p:nvSpPr>
          <p:cNvPr id="3" name="learning-subtitle">
            <a:extLst>
              <a:ext uri="{FF2B5EF4-FFF2-40B4-BE49-F238E27FC236}">
                <a16:creationId xmlns:a16="http://schemas.microsoft.com/office/drawing/2014/main" id="{D291AA65-D43A-4D50-AE09-E766035FA855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0668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5B5B5B"/>
                </a:solidFill>
              </a:defRPr>
            </a:pPr>
            <a:r>
              <a:t>The personality file remains authoritative. Validation only updates a small, inspectable guidance layer.</a:t>
            </a:r>
          </a:p>
        </p:txBody>
      </p:sp>
      <p:sp>
        <p:nvSpPr>
          <p:cNvPr id="4" name="loop-arrow-0">
            <a:extLst>
              <a:ext uri="{FF2B5EF4-FFF2-40B4-BE49-F238E27FC236}">
                <a16:creationId xmlns:a16="http://schemas.microsoft.com/office/drawing/2014/main" id="{ADC44783-CCE3-406B-B6F8-3CFE47549AA1}"/>
              </a:ext>
            </a:extLst>
          </p:cNvPr>
          <p:cNvSpPr>
            <a:spLocks noGrp="1"/>
          </p:cNvSpPr>
          <p:nvPr/>
        </p:nvSpPr>
        <p:spPr>
          <a:xfrm>
            <a:off x="2895600" y="3105150"/>
            <a:ext cx="3810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5" name="loop-arrow-1">
            <a:extLst>
              <a:ext uri="{FF2B5EF4-FFF2-40B4-BE49-F238E27FC236}">
                <a16:creationId xmlns:a16="http://schemas.microsoft.com/office/drawing/2014/main" id="{95BBF007-951D-4822-BD9A-5E9E02AF873F}"/>
              </a:ext>
            </a:extLst>
          </p:cNvPr>
          <p:cNvSpPr>
            <a:spLocks noGrp="1"/>
          </p:cNvSpPr>
          <p:nvPr/>
        </p:nvSpPr>
        <p:spPr>
          <a:xfrm>
            <a:off x="5819775" y="3105150"/>
            <a:ext cx="3810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6" name="loop-arrow-2">
            <a:extLst>
              <a:ext uri="{FF2B5EF4-FFF2-40B4-BE49-F238E27FC236}">
                <a16:creationId xmlns:a16="http://schemas.microsoft.com/office/drawing/2014/main" id="{9A0B2838-4C50-4514-BADF-386FF0E3512E}"/>
              </a:ext>
            </a:extLst>
          </p:cNvPr>
          <p:cNvSpPr>
            <a:spLocks noGrp="1"/>
          </p:cNvSpPr>
          <p:nvPr/>
        </p:nvSpPr>
        <p:spPr>
          <a:xfrm>
            <a:off x="8743950" y="3105150"/>
            <a:ext cx="381000" cy="4572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7" name="loop-card-0">
            <a:extLst>
              <a:ext uri="{FF2B5EF4-FFF2-40B4-BE49-F238E27FC236}">
                <a16:creationId xmlns:a16="http://schemas.microsoft.com/office/drawing/2014/main" id="{BFBA4EB3-3040-4B15-891E-D6FB447FBB42}"/>
              </a:ext>
            </a:extLst>
          </p:cNvPr>
          <p:cNvSpPr>
            <a:spLocks noGrp="1"/>
          </p:cNvSpPr>
          <p:nvPr/>
        </p:nvSpPr>
        <p:spPr>
          <a:xfrm>
            <a:off x="400050" y="2305050"/>
            <a:ext cx="2524125" cy="23431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loop-num-0">
            <a:extLst>
              <a:ext uri="{FF2B5EF4-FFF2-40B4-BE49-F238E27FC236}">
                <a16:creationId xmlns:a16="http://schemas.microsoft.com/office/drawing/2014/main" id="{F5BA66F4-B822-449D-845C-A1307B581B2A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47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loop-label-0">
            <a:extLst>
              <a:ext uri="{FF2B5EF4-FFF2-40B4-BE49-F238E27FC236}">
                <a16:creationId xmlns:a16="http://schemas.microsoft.com/office/drawing/2014/main" id="{7137CE23-A4A6-46FE-BE26-416D3FFC8E6A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Generate</a:t>
            </a:r>
          </a:p>
        </p:txBody>
      </p:sp>
      <p:sp>
        <p:nvSpPr>
          <p:cNvPr id="10" name="loop-body-0">
            <a:extLst>
              <a:ext uri="{FF2B5EF4-FFF2-40B4-BE49-F238E27FC236}">
                <a16:creationId xmlns:a16="http://schemas.microsoft.com/office/drawing/2014/main" id="{19A4212F-63B8-4FFC-9E00-626E179DE93E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2095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Answer using prompt, memory, context and tools.</a:t>
            </a:r>
          </a:p>
        </p:txBody>
      </p:sp>
      <p:sp>
        <p:nvSpPr>
          <p:cNvPr id="11" name="loop-card-1">
            <a:extLst>
              <a:ext uri="{FF2B5EF4-FFF2-40B4-BE49-F238E27FC236}">
                <a16:creationId xmlns:a16="http://schemas.microsoft.com/office/drawing/2014/main" id="{40ADE899-CB5B-4511-AD1F-461BF8239795}"/>
              </a:ext>
            </a:extLst>
          </p:cNvPr>
          <p:cNvSpPr>
            <a:spLocks noGrp="1"/>
          </p:cNvSpPr>
          <p:nvPr/>
        </p:nvSpPr>
        <p:spPr>
          <a:xfrm>
            <a:off x="3324225" y="2305050"/>
            <a:ext cx="2524125" cy="23431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loop-num-1">
            <a:extLst>
              <a:ext uri="{FF2B5EF4-FFF2-40B4-BE49-F238E27FC236}">
                <a16:creationId xmlns:a16="http://schemas.microsoft.com/office/drawing/2014/main" id="{6E398F84-E1A7-4DEF-A582-3BE558AF012B}"/>
              </a:ext>
            </a:extLst>
          </p:cNvPr>
          <p:cNvSpPr>
            <a:spLocks noGrp="1"/>
          </p:cNvSpPr>
          <p:nvPr/>
        </p:nvSpPr>
        <p:spPr>
          <a:xfrm>
            <a:off x="3533775" y="2514600"/>
            <a:ext cx="47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3" name="loop-label-1">
            <a:extLst>
              <a:ext uri="{FF2B5EF4-FFF2-40B4-BE49-F238E27FC236}">
                <a16:creationId xmlns:a16="http://schemas.microsoft.com/office/drawing/2014/main" id="{422C8E9D-138A-4929-B057-884D857BFCDD}"/>
              </a:ext>
            </a:extLst>
          </p:cNvPr>
          <p:cNvSpPr>
            <a:spLocks noGrp="1"/>
          </p:cNvSpPr>
          <p:nvPr/>
        </p:nvSpPr>
        <p:spPr>
          <a:xfrm>
            <a:off x="3533775" y="30670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Validate</a:t>
            </a:r>
          </a:p>
        </p:txBody>
      </p:sp>
      <p:sp>
        <p:nvSpPr>
          <p:cNvPr id="14" name="loop-body-1">
            <a:extLst>
              <a:ext uri="{FF2B5EF4-FFF2-40B4-BE49-F238E27FC236}">
                <a16:creationId xmlns:a16="http://schemas.microsoft.com/office/drawing/2014/main" id="{E3B32C8C-1A4A-4707-AB14-1D3556CEABC8}"/>
              </a:ext>
            </a:extLst>
          </p:cNvPr>
          <p:cNvSpPr>
            <a:spLocks noGrp="1"/>
          </p:cNvSpPr>
          <p:nvPr/>
        </p:nvSpPr>
        <p:spPr>
          <a:xfrm>
            <a:off x="3533775" y="3676650"/>
            <a:ext cx="2095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Score quality, accuracy, formatting and character consistency.</a:t>
            </a:r>
          </a:p>
        </p:txBody>
      </p:sp>
      <p:sp>
        <p:nvSpPr>
          <p:cNvPr id="15" name="loop-card-2">
            <a:extLst>
              <a:ext uri="{FF2B5EF4-FFF2-40B4-BE49-F238E27FC236}">
                <a16:creationId xmlns:a16="http://schemas.microsoft.com/office/drawing/2014/main" id="{D28360DC-D6E1-4F71-9C45-BAAF002C559C}"/>
              </a:ext>
            </a:extLst>
          </p:cNvPr>
          <p:cNvSpPr>
            <a:spLocks noGrp="1"/>
          </p:cNvSpPr>
          <p:nvPr/>
        </p:nvSpPr>
        <p:spPr>
          <a:xfrm>
            <a:off x="6248400" y="2305050"/>
            <a:ext cx="2524125" cy="234315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loop-num-2">
            <a:extLst>
              <a:ext uri="{FF2B5EF4-FFF2-40B4-BE49-F238E27FC236}">
                <a16:creationId xmlns:a16="http://schemas.microsoft.com/office/drawing/2014/main" id="{55144DA3-4206-458A-9222-5A20B0A3E014}"/>
              </a:ext>
            </a:extLst>
          </p:cNvPr>
          <p:cNvSpPr>
            <a:spLocks noGrp="1"/>
          </p:cNvSpPr>
          <p:nvPr/>
        </p:nvSpPr>
        <p:spPr>
          <a:xfrm>
            <a:off x="6457950" y="2514600"/>
            <a:ext cx="47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7" name="loop-label-2">
            <a:extLst>
              <a:ext uri="{FF2B5EF4-FFF2-40B4-BE49-F238E27FC236}">
                <a16:creationId xmlns:a16="http://schemas.microsoft.com/office/drawing/2014/main" id="{90EB5BAE-4AE3-4BD5-ABD4-28F51C212E61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Improve</a:t>
            </a:r>
          </a:p>
        </p:txBody>
      </p:sp>
      <p:sp>
        <p:nvSpPr>
          <p:cNvPr id="18" name="loop-body-2">
            <a:extLst>
              <a:ext uri="{FF2B5EF4-FFF2-40B4-BE49-F238E27FC236}">
                <a16:creationId xmlns:a16="http://schemas.microsoft.com/office/drawing/2014/main" id="{8A2BC6F0-10DA-44FE-B2B2-8563FE212948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2095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Return a corrected answer when the first response is weak.</a:t>
            </a:r>
          </a:p>
        </p:txBody>
      </p:sp>
      <p:sp>
        <p:nvSpPr>
          <p:cNvPr id="19" name="loop-card-3">
            <a:extLst>
              <a:ext uri="{FF2B5EF4-FFF2-40B4-BE49-F238E27FC236}">
                <a16:creationId xmlns:a16="http://schemas.microsoft.com/office/drawing/2014/main" id="{98EF0F9D-A9FA-436D-BAAE-DE4AA5E8DFEB}"/>
              </a:ext>
            </a:extLst>
          </p:cNvPr>
          <p:cNvSpPr>
            <a:spLocks noGrp="1"/>
          </p:cNvSpPr>
          <p:nvPr/>
        </p:nvSpPr>
        <p:spPr>
          <a:xfrm>
            <a:off x="9172575" y="2305050"/>
            <a:ext cx="2524125" cy="2343150"/>
          </a:xfrm>
          <a:prstGeom prst="rect">
            <a:avLst/>
          </a:prstGeom>
          <a:solidFill>
            <a:srgbClr val="FFF0EA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loop-num-3">
            <a:extLst>
              <a:ext uri="{FF2B5EF4-FFF2-40B4-BE49-F238E27FC236}">
                <a16:creationId xmlns:a16="http://schemas.microsoft.com/office/drawing/2014/main" id="{0EEF7A2A-BF05-4500-9F6D-B91DE78D74CC}"/>
              </a:ext>
            </a:extLst>
          </p:cNvPr>
          <p:cNvSpPr>
            <a:spLocks noGrp="1"/>
          </p:cNvSpPr>
          <p:nvPr/>
        </p:nvSpPr>
        <p:spPr>
          <a:xfrm>
            <a:off x="9382125" y="2514600"/>
            <a:ext cx="47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21" name="loop-label-3">
            <a:extLst>
              <a:ext uri="{FF2B5EF4-FFF2-40B4-BE49-F238E27FC236}">
                <a16:creationId xmlns:a16="http://schemas.microsoft.com/office/drawing/2014/main" id="{98C09BBC-3DB8-47C4-A663-AD4C89E6C5BB}"/>
              </a:ext>
            </a:extLst>
          </p:cNvPr>
          <p:cNvSpPr>
            <a:spLocks noGrp="1"/>
          </p:cNvSpPr>
          <p:nvPr/>
        </p:nvSpPr>
        <p:spPr>
          <a:xfrm>
            <a:off x="9382125" y="30670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Learn</a:t>
            </a:r>
          </a:p>
        </p:txBody>
      </p:sp>
      <p:sp>
        <p:nvSpPr>
          <p:cNvPr id="22" name="loop-body-3">
            <a:extLst>
              <a:ext uri="{FF2B5EF4-FFF2-40B4-BE49-F238E27FC236}">
                <a16:creationId xmlns:a16="http://schemas.microsoft.com/office/drawing/2014/main" id="{FA1DEDFD-C0D9-4AB0-8132-08E510A274EC}"/>
              </a:ext>
            </a:extLst>
          </p:cNvPr>
          <p:cNvSpPr>
            <a:spLocks noGrp="1"/>
          </p:cNvSpPr>
          <p:nvPr/>
        </p:nvSpPr>
        <p:spPr>
          <a:xfrm>
            <a:off x="9382125" y="3676650"/>
            <a:ext cx="2095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Retain a short, reusable rule for future prompts.</a:t>
            </a:r>
          </a:p>
        </p:txBody>
      </p:sp>
      <p:sp>
        <p:nvSpPr>
          <p:cNvPr id="23" name="loop-control-band">
            <a:extLst>
              <a:ext uri="{FF2B5EF4-FFF2-40B4-BE49-F238E27FC236}">
                <a16:creationId xmlns:a16="http://schemas.microsoft.com/office/drawing/2014/main" id="{D03BC299-0367-46A0-AE94-5CEEC07E5E80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11391900" cy="781050"/>
          </a:xfrm>
          <a:prstGeom prst="rect">
            <a:avLst/>
          </a:prstGeom>
          <a:solidFill>
            <a:srgbClr val="15192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loop-control-label">
            <a:extLst>
              <a:ext uri="{FF2B5EF4-FFF2-40B4-BE49-F238E27FC236}">
                <a16:creationId xmlns:a16="http://schemas.microsoft.com/office/drawing/2014/main" id="{9E8F4FDA-E22A-4BDE-8A88-D124B75F2012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1333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FFFFFF"/>
                </a:solidFill>
              </a:defRPr>
            </a:pPr>
            <a:r>
              <a:t>Guardrails</a:t>
            </a:r>
          </a:p>
        </p:txBody>
      </p:sp>
      <p:sp>
        <p:nvSpPr>
          <p:cNvPr id="25" name="loop-control-body">
            <a:extLst>
              <a:ext uri="{FF2B5EF4-FFF2-40B4-BE49-F238E27FC236}">
                <a16:creationId xmlns:a16="http://schemas.microsoft.com/office/drawing/2014/main" id="{2F1607CF-8BFB-4482-AC9E-00D170CDA85C}"/>
              </a:ext>
            </a:extLst>
          </p:cNvPr>
          <p:cNvSpPr>
            <a:spLocks noGrp="1"/>
          </p:cNvSpPr>
          <p:nvPr/>
        </p:nvSpPr>
        <p:spPr>
          <a:xfrm>
            <a:off x="2076450" y="5257800"/>
            <a:ext cx="9144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FFFFFF"/>
                </a:solidFill>
              </a:defRPr>
            </a:pPr>
            <a:r>
              <a:t>Prompt-scoped · deduplicated · capped · injection-like lessons rejected · visible via /learning · reversible</a:t>
            </a:r>
          </a:p>
        </p:txBody>
      </p:sp>
      <p:sp>
        <p:nvSpPr>
          <p:cNvPr id="26" name="source-6">
            <a:extLst>
              <a:ext uri="{FF2B5EF4-FFF2-40B4-BE49-F238E27FC236}">
                <a16:creationId xmlns:a16="http://schemas.microsoft.com/office/drawing/2014/main" id="{B463C343-6D14-4588-B8A7-AF180CA424E8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33082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-7">
            <a:extLst>
              <a:ext uri="{FF2B5EF4-FFF2-40B4-BE49-F238E27FC236}">
                <a16:creationId xmlns:a16="http://schemas.microsoft.com/office/drawing/2014/main" id="{C0CBA0C4-230B-44A4-8938-D43350B579D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239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Control foundations exist; production assurance does not</a:t>
            </a:r>
          </a:p>
        </p:txBody>
      </p:sp>
      <p:sp>
        <p:nvSpPr>
          <p:cNvPr id="2" name="page-7">
            <a:extLst>
              <a:ext uri="{FF2B5EF4-FFF2-40B4-BE49-F238E27FC236}">
                <a16:creationId xmlns:a16="http://schemas.microsoft.com/office/drawing/2014/main" id="{C83A53FC-B29F-4ABC-81F4-979C03F2B5E1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7</a:t>
            </a:r>
          </a:p>
        </p:txBody>
      </p:sp>
      <p:sp>
        <p:nvSpPr>
          <p:cNvPr id="3" name="gov-h1">
            <a:extLst>
              <a:ext uri="{FF2B5EF4-FFF2-40B4-BE49-F238E27FC236}">
                <a16:creationId xmlns:a16="http://schemas.microsoft.com/office/drawing/2014/main" id="{979E3634-9019-4FA5-93A3-655DD16A58B5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809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Domain</a:t>
            </a:r>
          </a:p>
        </p:txBody>
      </p:sp>
      <p:sp>
        <p:nvSpPr>
          <p:cNvPr id="4" name="gov-h2">
            <a:extLst>
              <a:ext uri="{FF2B5EF4-FFF2-40B4-BE49-F238E27FC236}">
                <a16:creationId xmlns:a16="http://schemas.microsoft.com/office/drawing/2014/main" id="{1956BBE0-4BD1-4E63-8A25-A1A983B132C6}"/>
              </a:ext>
            </a:extLst>
          </p:cNvPr>
          <p:cNvSpPr>
            <a:spLocks noGrp="1"/>
          </p:cNvSpPr>
          <p:nvPr/>
        </p:nvSpPr>
        <p:spPr>
          <a:xfrm>
            <a:off x="2457450" y="1447800"/>
            <a:ext cx="3905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Implemented in the PoC</a:t>
            </a:r>
          </a:p>
        </p:txBody>
      </p:sp>
      <p:sp>
        <p:nvSpPr>
          <p:cNvPr id="5" name="gov-h3">
            <a:extLst>
              <a:ext uri="{FF2B5EF4-FFF2-40B4-BE49-F238E27FC236}">
                <a16:creationId xmlns:a16="http://schemas.microsoft.com/office/drawing/2014/main" id="{A73B97CC-8F48-46BB-B4CF-75D5D84BCA6F}"/>
              </a:ext>
            </a:extLst>
          </p:cNvPr>
          <p:cNvSpPr>
            <a:spLocks noGrp="1"/>
          </p:cNvSpPr>
          <p:nvPr/>
        </p:nvSpPr>
        <p:spPr>
          <a:xfrm>
            <a:off x="6724650" y="1447800"/>
            <a:ext cx="4648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Required for enterprise use</a:t>
            </a:r>
          </a:p>
        </p:txBody>
      </p:sp>
      <p:sp>
        <p:nvSpPr>
          <p:cNvPr id="6" name="gov-head-rule">
            <a:extLst>
              <a:ext uri="{FF2B5EF4-FFF2-40B4-BE49-F238E27FC236}">
                <a16:creationId xmlns:a16="http://schemas.microsoft.com/office/drawing/2014/main" id="{04FF2AA4-891D-4AAB-A4D8-E56448D61B43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10972800" cy="19050"/>
          </a:xfrm>
          <a:prstGeom prst="rect">
            <a:avLst/>
          </a:prstGeom>
          <a:solidFill>
            <a:srgbClr val="0A0A0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gov-row-bg-0">
            <a:extLst>
              <a:ext uri="{FF2B5EF4-FFF2-40B4-BE49-F238E27FC236}">
                <a16:creationId xmlns:a16="http://schemas.microsoft.com/office/drawing/2014/main" id="{C813ABFE-9312-460D-985C-227ACBFF28D5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10972800" cy="685800"/>
          </a:xfrm>
          <a:prstGeom prst="rect">
            <a:avLst/>
          </a:prstGeo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gov-domain-0">
            <a:extLst>
              <a:ext uri="{FF2B5EF4-FFF2-40B4-BE49-F238E27FC236}">
                <a16:creationId xmlns:a16="http://schemas.microsoft.com/office/drawing/2014/main" id="{6C3AAFF6-11A2-4D94-829E-1876023E4083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6573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0A0A0A"/>
                </a:solidFill>
              </a:defRPr>
            </a:pPr>
            <a:r>
              <a:t>Data locality</a:t>
            </a:r>
          </a:p>
        </p:txBody>
      </p:sp>
      <p:sp>
        <p:nvSpPr>
          <p:cNvPr id="9" name="gov-current-0">
            <a:extLst>
              <a:ext uri="{FF2B5EF4-FFF2-40B4-BE49-F238E27FC236}">
                <a16:creationId xmlns:a16="http://schemas.microsoft.com/office/drawing/2014/main" id="{730A6757-3DF0-4206-BBD4-121D2CAC244D}"/>
              </a:ext>
            </a:extLst>
          </p:cNvPr>
          <p:cNvSpPr>
            <a:spLocks noGrp="1"/>
          </p:cNvSpPr>
          <p:nvPr/>
        </p:nvSpPr>
        <p:spPr>
          <a:xfrm>
            <a:off x="2457450" y="2000250"/>
            <a:ext cx="3829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Local model, state and vector DB paths</a:t>
            </a:r>
          </a:p>
        </p:txBody>
      </p:sp>
      <p:sp>
        <p:nvSpPr>
          <p:cNvPr id="10" name="gov-required-0">
            <a:extLst>
              <a:ext uri="{FF2B5EF4-FFF2-40B4-BE49-F238E27FC236}">
                <a16:creationId xmlns:a16="http://schemas.microsoft.com/office/drawing/2014/main" id="{A96DFDB9-7584-4DDC-91AD-954E7481366A}"/>
              </a:ext>
            </a:extLst>
          </p:cNvPr>
          <p:cNvSpPr>
            <a:spLocks noGrp="1"/>
          </p:cNvSpPr>
          <p:nvPr/>
        </p:nvSpPr>
        <p:spPr>
          <a:xfrm>
            <a:off x="6724650" y="200025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Host access, encryption and retention controls</a:t>
            </a:r>
          </a:p>
        </p:txBody>
      </p:sp>
      <p:sp>
        <p:nvSpPr>
          <p:cNvPr id="11" name="gov-rule-0">
            <a:extLst>
              <a:ext uri="{FF2B5EF4-FFF2-40B4-BE49-F238E27FC236}">
                <a16:creationId xmlns:a16="http://schemas.microsoft.com/office/drawing/2014/main" id="{0BFF08B2-9B84-4127-955E-5992B5EB9A1B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109728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gov-domain-1">
            <a:extLst>
              <a:ext uri="{FF2B5EF4-FFF2-40B4-BE49-F238E27FC236}">
                <a16:creationId xmlns:a16="http://schemas.microsoft.com/office/drawing/2014/main" id="{8D6609D3-6C90-4B51-898D-C04B48A72933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6573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0A0A0A"/>
                </a:solidFill>
              </a:defRPr>
            </a:pPr>
            <a:r>
              <a:t>Traceability</a:t>
            </a:r>
          </a:p>
        </p:txBody>
      </p:sp>
      <p:sp>
        <p:nvSpPr>
          <p:cNvPr id="13" name="gov-current-1">
            <a:extLst>
              <a:ext uri="{FF2B5EF4-FFF2-40B4-BE49-F238E27FC236}">
                <a16:creationId xmlns:a16="http://schemas.microsoft.com/office/drawing/2014/main" id="{3391CDBF-B4A4-437E-8224-9E3B24FF223C}"/>
              </a:ext>
            </a:extLst>
          </p:cNvPr>
          <p:cNvSpPr>
            <a:spLocks noGrp="1"/>
          </p:cNvSpPr>
          <p:nvPr/>
        </p:nvSpPr>
        <p:spPr>
          <a:xfrm>
            <a:off x="2457450" y="2781300"/>
            <a:ext cx="3829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Memory inspector, metadata and vector previews</a:t>
            </a:r>
          </a:p>
        </p:txBody>
      </p:sp>
      <p:sp>
        <p:nvSpPr>
          <p:cNvPr id="14" name="gov-required-1">
            <a:extLst>
              <a:ext uri="{FF2B5EF4-FFF2-40B4-BE49-F238E27FC236}">
                <a16:creationId xmlns:a16="http://schemas.microsoft.com/office/drawing/2014/main" id="{53250700-97F1-4274-8F34-AF73B41B9F8D}"/>
              </a:ext>
            </a:extLst>
          </p:cNvPr>
          <p:cNvSpPr>
            <a:spLocks noGrp="1"/>
          </p:cNvSpPr>
          <p:nvPr/>
        </p:nvSpPr>
        <p:spPr>
          <a:xfrm>
            <a:off x="6724650" y="278130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Audit log and policy-grade provenance</a:t>
            </a:r>
          </a:p>
        </p:txBody>
      </p:sp>
      <p:sp>
        <p:nvSpPr>
          <p:cNvPr id="15" name="gov-rule-1">
            <a:extLst>
              <a:ext uri="{FF2B5EF4-FFF2-40B4-BE49-F238E27FC236}">
                <a16:creationId xmlns:a16="http://schemas.microsoft.com/office/drawing/2014/main" id="{7ADBDE9D-79D8-4348-AC6E-84F0F94F0EC2}"/>
              </a:ext>
            </a:extLst>
          </p:cNvPr>
          <p:cNvSpPr>
            <a:spLocks noGrp="1"/>
          </p:cNvSpPr>
          <p:nvPr/>
        </p:nvSpPr>
        <p:spPr>
          <a:xfrm>
            <a:off x="400050" y="3400425"/>
            <a:ext cx="109728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gov-row-bg-2">
            <a:extLst>
              <a:ext uri="{FF2B5EF4-FFF2-40B4-BE49-F238E27FC236}">
                <a16:creationId xmlns:a16="http://schemas.microsoft.com/office/drawing/2014/main" id="{09BE2DA1-663D-4AA0-BF44-DCD965701614}"/>
              </a:ext>
            </a:extLst>
          </p:cNvPr>
          <p:cNvSpPr>
            <a:spLocks noGrp="1"/>
          </p:cNvSpPr>
          <p:nvPr/>
        </p:nvSpPr>
        <p:spPr>
          <a:xfrm>
            <a:off x="400050" y="3486150"/>
            <a:ext cx="10972800" cy="685800"/>
          </a:xfrm>
          <a:prstGeom prst="rect">
            <a:avLst/>
          </a:prstGeo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gov-domain-2">
            <a:extLst>
              <a:ext uri="{FF2B5EF4-FFF2-40B4-BE49-F238E27FC236}">
                <a16:creationId xmlns:a16="http://schemas.microsoft.com/office/drawing/2014/main" id="{A878E19E-D4FC-4950-B081-A3D328B64F49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16573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0A0A0A"/>
                </a:solidFill>
              </a:defRPr>
            </a:pPr>
            <a:r>
              <a:t>Quality</a:t>
            </a:r>
          </a:p>
        </p:txBody>
      </p:sp>
      <p:sp>
        <p:nvSpPr>
          <p:cNvPr id="18" name="gov-current-2">
            <a:extLst>
              <a:ext uri="{FF2B5EF4-FFF2-40B4-BE49-F238E27FC236}">
                <a16:creationId xmlns:a16="http://schemas.microsoft.com/office/drawing/2014/main" id="{B3C82460-7D89-4BC5-9640-91A0DBC9AB8E}"/>
              </a:ext>
            </a:extLst>
          </p:cNvPr>
          <p:cNvSpPr>
            <a:spLocks noGrp="1"/>
          </p:cNvSpPr>
          <p:nvPr/>
        </p:nvSpPr>
        <p:spPr>
          <a:xfrm>
            <a:off x="2457450" y="3562350"/>
            <a:ext cx="3829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Validation score, improved reply and learned guidance</a:t>
            </a:r>
          </a:p>
        </p:txBody>
      </p:sp>
      <p:sp>
        <p:nvSpPr>
          <p:cNvPr id="19" name="gov-required-2">
            <a:extLst>
              <a:ext uri="{FF2B5EF4-FFF2-40B4-BE49-F238E27FC236}">
                <a16:creationId xmlns:a16="http://schemas.microsoft.com/office/drawing/2014/main" id="{906E4305-78F8-4E76-B41F-C66543484876}"/>
              </a:ext>
            </a:extLst>
          </p:cNvPr>
          <p:cNvSpPr>
            <a:spLocks noGrp="1"/>
          </p:cNvSpPr>
          <p:nvPr/>
        </p:nvSpPr>
        <p:spPr>
          <a:xfrm>
            <a:off x="6724650" y="356235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Independent evaluation set and acceptance thresholds</a:t>
            </a:r>
          </a:p>
        </p:txBody>
      </p:sp>
      <p:sp>
        <p:nvSpPr>
          <p:cNvPr id="20" name="gov-rule-2">
            <a:extLst>
              <a:ext uri="{FF2B5EF4-FFF2-40B4-BE49-F238E27FC236}">
                <a16:creationId xmlns:a16="http://schemas.microsoft.com/office/drawing/2014/main" id="{0BBA89C8-5F92-4D73-8D99-F27B951DE81B}"/>
              </a:ext>
            </a:extLst>
          </p:cNvPr>
          <p:cNvSpPr>
            <a:spLocks noGrp="1"/>
          </p:cNvSpPr>
          <p:nvPr/>
        </p:nvSpPr>
        <p:spPr>
          <a:xfrm>
            <a:off x="400050" y="4181475"/>
            <a:ext cx="109728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gov-domain-3">
            <a:extLst>
              <a:ext uri="{FF2B5EF4-FFF2-40B4-BE49-F238E27FC236}">
                <a16:creationId xmlns:a16="http://schemas.microsoft.com/office/drawing/2014/main" id="{AB33302B-E5C9-4079-A713-28C249EA103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573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0A0A0A"/>
                </a:solidFill>
              </a:defRPr>
            </a:pPr>
            <a:r>
              <a:t>Recovery</a:t>
            </a:r>
          </a:p>
        </p:txBody>
      </p:sp>
      <p:sp>
        <p:nvSpPr>
          <p:cNvPr id="22" name="gov-current-3">
            <a:extLst>
              <a:ext uri="{FF2B5EF4-FFF2-40B4-BE49-F238E27FC236}">
                <a16:creationId xmlns:a16="http://schemas.microsoft.com/office/drawing/2014/main" id="{2BFA20EB-FAA6-476F-AFA8-F7752B25C612}"/>
              </a:ext>
            </a:extLst>
          </p:cNvPr>
          <p:cNvSpPr>
            <a:spLocks noGrp="1"/>
          </p:cNvSpPr>
          <p:nvPr/>
        </p:nvSpPr>
        <p:spPr>
          <a:xfrm>
            <a:off x="2457450" y="4343400"/>
            <a:ext cx="3829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Backup-before-reset with identity preserved</a:t>
            </a:r>
          </a:p>
        </p:txBody>
      </p:sp>
      <p:sp>
        <p:nvSpPr>
          <p:cNvPr id="23" name="gov-required-3">
            <a:extLst>
              <a:ext uri="{FF2B5EF4-FFF2-40B4-BE49-F238E27FC236}">
                <a16:creationId xmlns:a16="http://schemas.microsoft.com/office/drawing/2014/main" id="{7F9A895A-A347-4ED1-BDF0-C2083FAABF28}"/>
              </a:ext>
            </a:extLst>
          </p:cNvPr>
          <p:cNvSpPr>
            <a:spLocks noGrp="1"/>
          </p:cNvSpPr>
          <p:nvPr/>
        </p:nvSpPr>
        <p:spPr>
          <a:xfrm>
            <a:off x="6724650" y="434340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Managed backup lifecycle and restore testing</a:t>
            </a:r>
          </a:p>
        </p:txBody>
      </p:sp>
      <p:sp>
        <p:nvSpPr>
          <p:cNvPr id="24" name="gov-rule-3">
            <a:extLst>
              <a:ext uri="{FF2B5EF4-FFF2-40B4-BE49-F238E27FC236}">
                <a16:creationId xmlns:a16="http://schemas.microsoft.com/office/drawing/2014/main" id="{5941D271-0499-45DA-BE4E-640D1D51AB37}"/>
              </a:ext>
            </a:extLst>
          </p:cNvPr>
          <p:cNvSpPr>
            <a:spLocks noGrp="1"/>
          </p:cNvSpPr>
          <p:nvPr/>
        </p:nvSpPr>
        <p:spPr>
          <a:xfrm>
            <a:off x="400050" y="4962525"/>
            <a:ext cx="109728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gov-row-bg-4">
            <a:extLst>
              <a:ext uri="{FF2B5EF4-FFF2-40B4-BE49-F238E27FC236}">
                <a16:creationId xmlns:a16="http://schemas.microsoft.com/office/drawing/2014/main" id="{6A36D1B8-3514-49D8-B68D-E28912EB2587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10972800" cy="685800"/>
          </a:xfrm>
          <a:prstGeom prst="rect">
            <a:avLst/>
          </a:prstGeom>
          <a:solidFill>
            <a:srgbClr val="F6F6F6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gov-domain-4">
            <a:extLst>
              <a:ext uri="{FF2B5EF4-FFF2-40B4-BE49-F238E27FC236}">
                <a16:creationId xmlns:a16="http://schemas.microsoft.com/office/drawing/2014/main" id="{DBA014ED-A04F-4118-A4DB-C66359FF9EDB}"/>
              </a:ext>
            </a:extLst>
          </p:cNvPr>
          <p:cNvSpPr>
            <a:spLocks noGrp="1"/>
          </p:cNvSpPr>
          <p:nvPr/>
        </p:nvSpPr>
        <p:spPr>
          <a:xfrm>
            <a:off x="552450" y="5124450"/>
            <a:ext cx="16573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0A0A0A"/>
                </a:solidFill>
              </a:defRPr>
            </a:pPr>
            <a:r>
              <a:t>External data</a:t>
            </a:r>
          </a:p>
        </p:txBody>
      </p:sp>
      <p:sp>
        <p:nvSpPr>
          <p:cNvPr id="27" name="gov-current-4">
            <a:extLst>
              <a:ext uri="{FF2B5EF4-FFF2-40B4-BE49-F238E27FC236}">
                <a16:creationId xmlns:a16="http://schemas.microsoft.com/office/drawing/2014/main" id="{8ECB85BA-2E5E-4292-A98A-74BA8F4DA461}"/>
              </a:ext>
            </a:extLst>
          </p:cNvPr>
          <p:cNvSpPr>
            <a:spLocks noGrp="1"/>
          </p:cNvSpPr>
          <p:nvPr/>
        </p:nvSpPr>
        <p:spPr>
          <a:xfrm>
            <a:off x="2457450" y="5124450"/>
            <a:ext cx="3829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Search snippets and direct URL retrieval</a:t>
            </a:r>
          </a:p>
        </p:txBody>
      </p:sp>
      <p:sp>
        <p:nvSpPr>
          <p:cNvPr id="28" name="gov-required-4">
            <a:extLst>
              <a:ext uri="{FF2B5EF4-FFF2-40B4-BE49-F238E27FC236}">
                <a16:creationId xmlns:a16="http://schemas.microsoft.com/office/drawing/2014/main" id="{AB3E1884-8F0E-4DFE-9FB4-7094D6D1913C}"/>
              </a:ext>
            </a:extLst>
          </p:cNvPr>
          <p:cNvSpPr>
            <a:spLocks noGrp="1"/>
          </p:cNvSpPr>
          <p:nvPr/>
        </p:nvSpPr>
        <p:spPr>
          <a:xfrm>
            <a:off x="6724650" y="512445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>
                <a:solidFill>
                  <a:srgbClr val="242424"/>
                </a:solidFill>
              </a:defRPr>
            </a:pPr>
            <a:r>
              <a:t>Approved connectors, source policy and content controls</a:t>
            </a:r>
          </a:p>
        </p:txBody>
      </p:sp>
      <p:sp>
        <p:nvSpPr>
          <p:cNvPr id="29" name="gov-rule-4">
            <a:extLst>
              <a:ext uri="{FF2B5EF4-FFF2-40B4-BE49-F238E27FC236}">
                <a16:creationId xmlns:a16="http://schemas.microsoft.com/office/drawing/2014/main" id="{407D4DFA-950D-4BCD-9B37-892E1B223A17}"/>
              </a:ext>
            </a:extLst>
          </p:cNvPr>
          <p:cNvSpPr>
            <a:spLocks noGrp="1"/>
          </p:cNvSpPr>
          <p:nvPr/>
        </p:nvSpPr>
        <p:spPr>
          <a:xfrm>
            <a:off x="400050" y="5743575"/>
            <a:ext cx="10972800" cy="9525"/>
          </a:xfrm>
          <a:prstGeom prst="rect">
            <a:avLst/>
          </a:prstGeom>
          <a:solidFill>
            <a:srgbClr val="B8BCC4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source-7">
            <a:extLst>
              <a:ext uri="{FF2B5EF4-FFF2-40B4-BE49-F238E27FC236}">
                <a16:creationId xmlns:a16="http://schemas.microsoft.com/office/drawing/2014/main" id="{008B9830-50DC-4214-9CB3-39CEE0D1AB7D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2044517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8">
            <a:extLst>
              <a:ext uri="{FF2B5EF4-FFF2-40B4-BE49-F238E27FC236}">
                <a16:creationId xmlns:a16="http://schemas.microsoft.com/office/drawing/2014/main" id="{DD1956C6-8B61-4333-B106-D0780BC8977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953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From PoC to a controlled enterprise pilot</a:t>
            </a:r>
          </a:p>
        </p:txBody>
      </p:sp>
      <p:sp>
        <p:nvSpPr>
          <p:cNvPr id="2" name="page-8">
            <a:extLst>
              <a:ext uri="{FF2B5EF4-FFF2-40B4-BE49-F238E27FC236}">
                <a16:creationId xmlns:a16="http://schemas.microsoft.com/office/drawing/2014/main" id="{37478FF1-2DDC-43F3-A94C-BD92F152C21C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8</a:t>
            </a:r>
          </a:p>
        </p:txBody>
      </p:sp>
      <p:sp>
        <p:nvSpPr>
          <p:cNvPr id="3" name="roadmap-subtitle">
            <a:extLst>
              <a:ext uri="{FF2B5EF4-FFF2-40B4-BE49-F238E27FC236}">
                <a16:creationId xmlns:a16="http://schemas.microsoft.com/office/drawing/2014/main" id="{5F69DB1B-9EAF-471E-9478-1A5C75B0DF55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06680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5B5B5B"/>
                </a:solidFill>
              </a:defRPr>
            </a:pPr>
            <a:r>
              <a:t>Sequence investment behind evidence. Avoid turning a broad prototype into an ungoverned internal platform.</a:t>
            </a:r>
          </a:p>
        </p:txBody>
      </p:sp>
      <p:sp>
        <p:nvSpPr>
          <p:cNvPr id="4" name="road-card-0">
            <a:extLst>
              <a:ext uri="{FF2B5EF4-FFF2-40B4-BE49-F238E27FC236}">
                <a16:creationId xmlns:a16="http://schemas.microsoft.com/office/drawing/2014/main" id="{455F934E-5467-4D4A-BFCA-0570D1D4F6E5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3562350" cy="320040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oad-num-0">
            <a:extLst>
              <a:ext uri="{FF2B5EF4-FFF2-40B4-BE49-F238E27FC236}">
                <a16:creationId xmlns:a16="http://schemas.microsoft.com/office/drawing/2014/main" id="{AFD35CFA-7040-474E-B46F-30A1F8712233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419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6" name="road-label-0">
            <a:extLst>
              <a:ext uri="{FF2B5EF4-FFF2-40B4-BE49-F238E27FC236}">
                <a16:creationId xmlns:a16="http://schemas.microsoft.com/office/drawing/2014/main" id="{627CCE36-68EE-4E7C-9CDE-3994D9666EF8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247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75" b="1">
                <a:solidFill>
                  <a:srgbClr val="0A0A0A"/>
                </a:solidFill>
              </a:defRPr>
            </a:pPr>
            <a:r>
              <a:t>Stabilize</a:t>
            </a:r>
          </a:p>
        </p:txBody>
      </p:sp>
      <p:sp>
        <p:nvSpPr>
          <p:cNvPr id="7" name="road-timing-0">
            <a:extLst>
              <a:ext uri="{FF2B5EF4-FFF2-40B4-BE49-F238E27FC236}">
                <a16:creationId xmlns:a16="http://schemas.microsoft.com/office/drawing/2014/main" id="{BC30E4C6-AF9A-4626-93FA-997E8EDFB2AB}"/>
              </a:ext>
            </a:extLst>
          </p:cNvPr>
          <p:cNvSpPr>
            <a:spLocks noGrp="1"/>
          </p:cNvSpPr>
          <p:nvPr/>
        </p:nvSpPr>
        <p:spPr>
          <a:xfrm>
            <a:off x="647700" y="3371850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2–4 weeks</a:t>
            </a:r>
          </a:p>
        </p:txBody>
      </p:sp>
      <p:sp>
        <p:nvSpPr>
          <p:cNvPr id="8" name="road-body-0">
            <a:extLst>
              <a:ext uri="{FF2B5EF4-FFF2-40B4-BE49-F238E27FC236}">
                <a16:creationId xmlns:a16="http://schemas.microsoft.com/office/drawing/2014/main" id="{51C58270-3AAA-4478-A1B7-B759AE8BC24E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29527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Configuration cleanup
Error handling
Telemetry
Evaluation harness</a:t>
            </a:r>
          </a:p>
        </p:txBody>
      </p:sp>
      <p:sp>
        <p:nvSpPr>
          <p:cNvPr id="9" name="road-card-1">
            <a:extLst>
              <a:ext uri="{FF2B5EF4-FFF2-40B4-BE49-F238E27FC236}">
                <a16:creationId xmlns:a16="http://schemas.microsoft.com/office/drawing/2014/main" id="{299A0107-CD38-4BB4-BC38-2481A53A0245}"/>
              </a:ext>
            </a:extLst>
          </p:cNvPr>
          <p:cNvSpPr>
            <a:spLocks noGrp="1"/>
          </p:cNvSpPr>
          <p:nvPr/>
        </p:nvSpPr>
        <p:spPr>
          <a:xfrm>
            <a:off x="4305300" y="2152650"/>
            <a:ext cx="3562350" cy="3200400"/>
          </a:xfrm>
          <a:prstGeom prst="rect">
            <a:avLst/>
          </a:prstGeom>
          <a:solidFill>
            <a:srgbClr val="FFF0E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oad-num-1">
            <a:extLst>
              <a:ext uri="{FF2B5EF4-FFF2-40B4-BE49-F238E27FC236}">
                <a16:creationId xmlns:a16="http://schemas.microsoft.com/office/drawing/2014/main" id="{8117BD6B-668A-4071-9E78-F774047E72BA}"/>
              </a:ext>
            </a:extLst>
          </p:cNvPr>
          <p:cNvSpPr>
            <a:spLocks noGrp="1"/>
          </p:cNvSpPr>
          <p:nvPr/>
        </p:nvSpPr>
        <p:spPr>
          <a:xfrm>
            <a:off x="4552950" y="2381250"/>
            <a:ext cx="419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1" name="road-label-1">
            <a:extLst>
              <a:ext uri="{FF2B5EF4-FFF2-40B4-BE49-F238E27FC236}">
                <a16:creationId xmlns:a16="http://schemas.microsoft.com/office/drawing/2014/main" id="{0D8E5480-E465-4B2C-A79C-43F2596018EE}"/>
              </a:ext>
            </a:extLst>
          </p:cNvPr>
          <p:cNvSpPr>
            <a:spLocks noGrp="1"/>
          </p:cNvSpPr>
          <p:nvPr/>
        </p:nvSpPr>
        <p:spPr>
          <a:xfrm>
            <a:off x="4552950" y="2933700"/>
            <a:ext cx="247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75" b="1">
                <a:solidFill>
                  <a:srgbClr val="0A0A0A"/>
                </a:solidFill>
              </a:defRPr>
            </a:pPr>
            <a:r>
              <a:t>Pilot</a:t>
            </a:r>
          </a:p>
        </p:txBody>
      </p:sp>
      <p:sp>
        <p:nvSpPr>
          <p:cNvPr id="12" name="road-timing-1">
            <a:extLst>
              <a:ext uri="{FF2B5EF4-FFF2-40B4-BE49-F238E27FC236}">
                <a16:creationId xmlns:a16="http://schemas.microsoft.com/office/drawing/2014/main" id="{E2206B1A-7E8A-4E29-8C0B-47B2C033FFC1}"/>
              </a:ext>
            </a:extLst>
          </p:cNvPr>
          <p:cNvSpPr>
            <a:spLocks noGrp="1"/>
          </p:cNvSpPr>
          <p:nvPr/>
        </p:nvSpPr>
        <p:spPr>
          <a:xfrm>
            <a:off x="4552950" y="3371850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6–8 weeks</a:t>
            </a:r>
          </a:p>
        </p:txBody>
      </p:sp>
      <p:sp>
        <p:nvSpPr>
          <p:cNvPr id="13" name="road-body-1">
            <a:extLst>
              <a:ext uri="{FF2B5EF4-FFF2-40B4-BE49-F238E27FC236}">
                <a16:creationId xmlns:a16="http://schemas.microsoft.com/office/drawing/2014/main" id="{296D0710-5137-4340-BB04-2C189D12352F}"/>
              </a:ext>
            </a:extLst>
          </p:cNvPr>
          <p:cNvSpPr>
            <a:spLocks noGrp="1"/>
          </p:cNvSpPr>
          <p:nvPr/>
        </p:nvSpPr>
        <p:spPr>
          <a:xfrm>
            <a:off x="4552950" y="3905250"/>
            <a:ext cx="29527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One use case
Named users
Curated knowledge
Human review</a:t>
            </a:r>
          </a:p>
        </p:txBody>
      </p:sp>
      <p:sp>
        <p:nvSpPr>
          <p:cNvPr id="14" name="road-card-2">
            <a:extLst>
              <a:ext uri="{FF2B5EF4-FFF2-40B4-BE49-F238E27FC236}">
                <a16:creationId xmlns:a16="http://schemas.microsoft.com/office/drawing/2014/main" id="{A8707478-F3B7-4A85-BBA8-3D9DEB9F1E8B}"/>
              </a:ext>
            </a:extLst>
          </p:cNvPr>
          <p:cNvSpPr>
            <a:spLocks noGrp="1"/>
          </p:cNvSpPr>
          <p:nvPr/>
        </p:nvSpPr>
        <p:spPr>
          <a:xfrm>
            <a:off x="8210550" y="2152650"/>
            <a:ext cx="3562350" cy="3200400"/>
          </a:xfrm>
          <a:prstGeom prst="rect">
            <a:avLst/>
          </a:prstGeom>
          <a:solidFill>
            <a:srgbClr val="EDEDED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oad-num-2">
            <a:extLst>
              <a:ext uri="{FF2B5EF4-FFF2-40B4-BE49-F238E27FC236}">
                <a16:creationId xmlns:a16="http://schemas.microsoft.com/office/drawing/2014/main" id="{A612EC35-D6D0-4DAD-90B5-EAC1026AB528}"/>
              </a:ext>
            </a:extLst>
          </p:cNvPr>
          <p:cNvSpPr>
            <a:spLocks noGrp="1"/>
          </p:cNvSpPr>
          <p:nvPr/>
        </p:nvSpPr>
        <p:spPr>
          <a:xfrm>
            <a:off x="8458200" y="2381250"/>
            <a:ext cx="419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1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6" name="road-label-2">
            <a:extLst>
              <a:ext uri="{FF2B5EF4-FFF2-40B4-BE49-F238E27FC236}">
                <a16:creationId xmlns:a16="http://schemas.microsoft.com/office/drawing/2014/main" id="{913EEE11-25C9-4E15-9EE1-3C68940F14C3}"/>
              </a:ext>
            </a:extLst>
          </p:cNvPr>
          <p:cNvSpPr>
            <a:spLocks noGrp="1"/>
          </p:cNvSpPr>
          <p:nvPr/>
        </p:nvSpPr>
        <p:spPr>
          <a:xfrm>
            <a:off x="8458200" y="2933700"/>
            <a:ext cx="2476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75" b="1">
                <a:solidFill>
                  <a:srgbClr val="0A0A0A"/>
                </a:solidFill>
              </a:defRPr>
            </a:pPr>
            <a:r>
              <a:t>Industrialize</a:t>
            </a:r>
          </a:p>
        </p:txBody>
      </p:sp>
      <p:sp>
        <p:nvSpPr>
          <p:cNvPr id="17" name="road-timing-2">
            <a:extLst>
              <a:ext uri="{FF2B5EF4-FFF2-40B4-BE49-F238E27FC236}">
                <a16:creationId xmlns:a16="http://schemas.microsoft.com/office/drawing/2014/main" id="{0B56279B-5506-4A17-95D1-B894640FF3C2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275" b="1">
                <a:solidFill>
                  <a:srgbClr val="5B5B5B"/>
                </a:solidFill>
              </a:defRPr>
            </a:pPr>
            <a:r>
              <a:t>after evidence</a:t>
            </a:r>
          </a:p>
        </p:txBody>
      </p:sp>
      <p:sp>
        <p:nvSpPr>
          <p:cNvPr id="18" name="road-body-2">
            <a:extLst>
              <a:ext uri="{FF2B5EF4-FFF2-40B4-BE49-F238E27FC236}">
                <a16:creationId xmlns:a16="http://schemas.microsoft.com/office/drawing/2014/main" id="{371A3B58-993F-43CC-9FCB-54DE39109E05}"/>
              </a:ext>
            </a:extLst>
          </p:cNvPr>
          <p:cNvSpPr>
            <a:spLocks noGrp="1"/>
          </p:cNvSpPr>
          <p:nvPr/>
        </p:nvSpPr>
        <p:spPr>
          <a:xfrm>
            <a:off x="8458200" y="3905250"/>
            <a:ext cx="29527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425">
                <a:solidFill>
                  <a:srgbClr val="242424"/>
                </a:solidFill>
              </a:defRPr>
            </a:pPr>
            <a:r>
              <a:t>Identity and access
Policy connectors
Auditability
Deployment automation</a:t>
            </a:r>
          </a:p>
        </p:txBody>
      </p:sp>
      <p:sp>
        <p:nvSpPr>
          <p:cNvPr id="19" name="road-gates">
            <a:extLst>
              <a:ext uri="{FF2B5EF4-FFF2-40B4-BE49-F238E27FC236}">
                <a16:creationId xmlns:a16="http://schemas.microsoft.com/office/drawing/2014/main" id="{8340E649-BCBA-4F6D-B59E-72BA4A5BEE4D}"/>
              </a:ext>
            </a:extLst>
          </p:cNvPr>
          <p:cNvSpPr>
            <a:spLocks noGrp="1"/>
          </p:cNvSpPr>
          <p:nvPr/>
        </p:nvSpPr>
        <p:spPr>
          <a:xfrm>
            <a:off x="400050" y="5734050"/>
            <a:ext cx="10763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>
                <a:solidFill>
                  <a:srgbClr val="0A0A0A"/>
                </a:solidFill>
              </a:defRPr>
            </a:pPr>
            <a:r>
              <a:t>Pilot success gates: answer quality · groundedness · latency · user value · operating cost · control compliance</a:t>
            </a:r>
          </a:p>
        </p:txBody>
      </p:sp>
      <p:sp>
        <p:nvSpPr>
          <p:cNvPr id="20" name="source-8">
            <a:extLst>
              <a:ext uri="{FF2B5EF4-FFF2-40B4-BE49-F238E27FC236}">
                <a16:creationId xmlns:a16="http://schemas.microsoft.com/office/drawing/2014/main" id="{CD2432FF-CD2F-4F07-A6EE-7DEBBF2DCB11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7935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9">
            <a:extLst>
              <a:ext uri="{FF2B5EF4-FFF2-40B4-BE49-F238E27FC236}">
                <a16:creationId xmlns:a16="http://schemas.microsoft.com/office/drawing/2014/main" id="{0DE4ED88-772D-451E-B511-14690508287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096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3000" b="0">
                <a:solidFill>
                  <a:srgbClr val="0A0A0A"/>
                </a:solidFill>
              </a:defRPr>
            </a:pPr>
            <a:r>
              <a:t>Recommended CIO decision</a:t>
            </a:r>
          </a:p>
        </p:txBody>
      </p:sp>
      <p:sp>
        <p:nvSpPr>
          <p:cNvPr id="2" name="page-9">
            <a:extLst>
              <a:ext uri="{FF2B5EF4-FFF2-40B4-BE49-F238E27FC236}">
                <a16:creationId xmlns:a16="http://schemas.microsoft.com/office/drawing/2014/main" id="{741D008C-F983-46D5-B709-163094BCBFA3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975">
                <a:solidFill>
                  <a:srgbClr val="5B5B5B"/>
                </a:solidFill>
              </a:defRPr>
            </a:pPr>
            <a:r>
              <a:t>9</a:t>
            </a:r>
          </a:p>
        </p:txBody>
      </p:sp>
      <p:sp>
        <p:nvSpPr>
          <p:cNvPr id="3" name="decision-statement">
            <a:extLst>
              <a:ext uri="{FF2B5EF4-FFF2-40B4-BE49-F238E27FC236}">
                <a16:creationId xmlns:a16="http://schemas.microsoft.com/office/drawing/2014/main" id="{F3247740-B7C9-47E6-9732-2A78A119D614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102870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850">
                <a:solidFill>
                  <a:srgbClr val="0A0A0A"/>
                </a:solidFill>
              </a:defRPr>
            </a:pPr>
            <a:r>
              <a:t>Proceed to a narrow, controlled pilot — not a general enterprise rollout.</a:t>
            </a:r>
          </a:p>
        </p:txBody>
      </p:sp>
      <p:sp>
        <p:nvSpPr>
          <p:cNvPr id="4" name="decision-mark-0">
            <a:extLst>
              <a:ext uri="{FF2B5EF4-FFF2-40B4-BE49-F238E27FC236}">
                <a16:creationId xmlns:a16="http://schemas.microsoft.com/office/drawing/2014/main" id="{3D52448A-406C-4B1D-B007-54A852598432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285750" cy="28575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decision-label-0">
            <a:extLst>
              <a:ext uri="{FF2B5EF4-FFF2-40B4-BE49-F238E27FC236}">
                <a16:creationId xmlns:a16="http://schemas.microsoft.com/office/drawing/2014/main" id="{9E7C7050-1E7A-4F96-8095-75B391E53938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3143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Sponsor</a:t>
            </a:r>
          </a:p>
        </p:txBody>
      </p:sp>
      <p:sp>
        <p:nvSpPr>
          <p:cNvPr id="6" name="decision-body-0">
            <a:extLst>
              <a:ext uri="{FF2B5EF4-FFF2-40B4-BE49-F238E27FC236}">
                <a16:creationId xmlns:a16="http://schemas.microsoft.com/office/drawing/2014/main" id="{8D4717C3-73AC-4ECE-BB9E-CF3E3665A3AB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32766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>
                <a:solidFill>
                  <a:srgbClr val="242424"/>
                </a:solidFill>
              </a:defRPr>
            </a:pPr>
            <a:r>
              <a:t>Select one bounded, knowledge-intensive internal use case.</a:t>
            </a:r>
          </a:p>
        </p:txBody>
      </p:sp>
      <p:sp>
        <p:nvSpPr>
          <p:cNvPr id="7" name="decision-mark-1">
            <a:extLst>
              <a:ext uri="{FF2B5EF4-FFF2-40B4-BE49-F238E27FC236}">
                <a16:creationId xmlns:a16="http://schemas.microsoft.com/office/drawing/2014/main" id="{4E10EBA8-7D02-4550-BAC4-9FA2178ECBC3}"/>
              </a:ext>
            </a:extLst>
          </p:cNvPr>
          <p:cNvSpPr>
            <a:spLocks noGrp="1"/>
          </p:cNvSpPr>
          <p:nvPr/>
        </p:nvSpPr>
        <p:spPr>
          <a:xfrm>
            <a:off x="4314825" y="3105150"/>
            <a:ext cx="285750" cy="28575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decision-label-1">
            <a:extLst>
              <a:ext uri="{FF2B5EF4-FFF2-40B4-BE49-F238E27FC236}">
                <a16:creationId xmlns:a16="http://schemas.microsoft.com/office/drawing/2014/main" id="{6EF57931-98FC-4F2C-B080-04C9C2473B92}"/>
              </a:ext>
            </a:extLst>
          </p:cNvPr>
          <p:cNvSpPr>
            <a:spLocks noGrp="1"/>
          </p:cNvSpPr>
          <p:nvPr/>
        </p:nvSpPr>
        <p:spPr>
          <a:xfrm>
            <a:off x="4314825" y="3714750"/>
            <a:ext cx="3143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Govern</a:t>
            </a:r>
          </a:p>
        </p:txBody>
      </p:sp>
      <p:sp>
        <p:nvSpPr>
          <p:cNvPr id="9" name="decision-body-1">
            <a:extLst>
              <a:ext uri="{FF2B5EF4-FFF2-40B4-BE49-F238E27FC236}">
                <a16:creationId xmlns:a16="http://schemas.microsoft.com/office/drawing/2014/main" id="{1AFFF516-99B3-44C9-AA82-6524715A6A94}"/>
              </a:ext>
            </a:extLst>
          </p:cNvPr>
          <p:cNvSpPr>
            <a:spLocks noGrp="1"/>
          </p:cNvSpPr>
          <p:nvPr/>
        </p:nvSpPr>
        <p:spPr>
          <a:xfrm>
            <a:off x="4314825" y="4305300"/>
            <a:ext cx="32766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>
                <a:solidFill>
                  <a:srgbClr val="242424"/>
                </a:solidFill>
              </a:defRPr>
            </a:pPr>
            <a:r>
              <a:t>Name data, security, risk and business owners before pilot access.</a:t>
            </a:r>
          </a:p>
        </p:txBody>
      </p:sp>
      <p:sp>
        <p:nvSpPr>
          <p:cNvPr id="10" name="decision-mark-2">
            <a:extLst>
              <a:ext uri="{FF2B5EF4-FFF2-40B4-BE49-F238E27FC236}">
                <a16:creationId xmlns:a16="http://schemas.microsoft.com/office/drawing/2014/main" id="{72B98646-95E8-4DBB-9FB8-B18DA7D94209}"/>
              </a:ext>
            </a:extLst>
          </p:cNvPr>
          <p:cNvSpPr>
            <a:spLocks noGrp="1"/>
          </p:cNvSpPr>
          <p:nvPr/>
        </p:nvSpPr>
        <p:spPr>
          <a:xfrm>
            <a:off x="8229600" y="3105150"/>
            <a:ext cx="285750" cy="285750"/>
          </a:xfrm>
          <a:prstGeom prst="rect">
            <a:avLst/>
          </a:prstGeom>
          <a:solidFill>
            <a:srgbClr val="FF6B35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decision-label-2">
            <a:extLst>
              <a:ext uri="{FF2B5EF4-FFF2-40B4-BE49-F238E27FC236}">
                <a16:creationId xmlns:a16="http://schemas.microsoft.com/office/drawing/2014/main" id="{74C4EB5C-7751-4A10-BD7F-5058E0FF9121}"/>
              </a:ext>
            </a:extLst>
          </p:cNvPr>
          <p:cNvSpPr>
            <a:spLocks noGrp="1"/>
          </p:cNvSpPr>
          <p:nvPr/>
        </p:nvSpPr>
        <p:spPr>
          <a:xfrm>
            <a:off x="8229600" y="3714750"/>
            <a:ext cx="3143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800" b="1">
                <a:solidFill>
                  <a:srgbClr val="0A0A0A"/>
                </a:solidFill>
              </a:defRPr>
            </a:pPr>
            <a:r>
              <a:t>Measure</a:t>
            </a:r>
          </a:p>
        </p:txBody>
      </p:sp>
      <p:sp>
        <p:nvSpPr>
          <p:cNvPr id="12" name="decision-body-2">
            <a:extLst>
              <a:ext uri="{FF2B5EF4-FFF2-40B4-BE49-F238E27FC236}">
                <a16:creationId xmlns:a16="http://schemas.microsoft.com/office/drawing/2014/main" id="{511CACD9-99C9-4DBA-A2E7-EEF2B77816B8}"/>
              </a:ext>
            </a:extLst>
          </p:cNvPr>
          <p:cNvSpPr>
            <a:spLocks noGrp="1"/>
          </p:cNvSpPr>
          <p:nvPr/>
        </p:nvSpPr>
        <p:spPr>
          <a:xfrm>
            <a:off x="8229600" y="4305300"/>
            <a:ext cx="32766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500">
                <a:solidFill>
                  <a:srgbClr val="242424"/>
                </a:solidFill>
              </a:defRPr>
            </a:pPr>
            <a:r>
              <a:t>Approve explicit quality, cost, latency and control success gates.</a:t>
            </a:r>
          </a:p>
        </p:txBody>
      </p:sp>
      <p:sp>
        <p:nvSpPr>
          <p:cNvPr id="13" name="decision-band">
            <a:extLst>
              <a:ext uri="{FF2B5EF4-FFF2-40B4-BE49-F238E27FC236}">
                <a16:creationId xmlns:a16="http://schemas.microsoft.com/office/drawing/2014/main" id="{EA61177F-BB5E-4472-A30F-163A45F0AA4A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15192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decision-band-copy">
            <a:extLst>
              <a:ext uri="{FF2B5EF4-FFF2-40B4-BE49-F238E27FC236}">
                <a16:creationId xmlns:a16="http://schemas.microsoft.com/office/drawing/2014/main" id="{6564594E-4A5A-4EA4-8CD5-DCFA60082B8B}"/>
              </a:ext>
            </a:extLst>
          </p:cNvPr>
          <p:cNvSpPr>
            <a:spLocks noGrp="1"/>
          </p:cNvSpPr>
          <p:nvPr/>
        </p:nvSpPr>
        <p:spPr>
          <a:xfrm>
            <a:off x="400050" y="6048375"/>
            <a:ext cx="10810875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650">
                <a:solidFill>
                  <a:srgbClr val="FFFFFF"/>
                </a:solidFill>
              </a:defRPr>
            </a:pPr>
            <a:r>
              <a:t>The PoC has earned the right to be evaluated. The next investment should buy evidence, controls and operational learning.</a:t>
            </a:r>
          </a:p>
        </p:txBody>
      </p:sp>
      <p:sp>
        <p:nvSpPr>
          <p:cNvPr id="15" name="source-9">
            <a:extLst>
              <a:ext uri="{FF2B5EF4-FFF2-40B4-BE49-F238E27FC236}">
                <a16:creationId xmlns:a16="http://schemas.microsoft.com/office/drawing/2014/main" id="{8F5B3715-925B-4403-9D4B-F483AD698A82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825">
                <a:solidFill>
                  <a:srgbClr val="5B5B5B"/>
                </a:solidFill>
              </a:defRPr>
            </a:pPr>
            <a:r>
              <a:t>Source: ENGRAM2 implementation review, 24 June 2026</a:t>
            </a:r>
          </a:p>
        </p:txBody>
      </p:sp>
    </p:spTree>
    <p:extLst>
      <p:ext uri="{BB962C8B-B14F-4D97-AF65-F5344CB8AC3E}">
        <p14:creationId xmlns:p14="http://schemas.microsoft.com/office/powerpoint/2010/main" val="12666747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Macintosh PowerPoint</Application>
  <DocSecurity>0</DocSecurity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Fausto Saporito</cp:lastModifiedBy>
  <cp:revision>1</cp:revision>
  <dcterms:created xsi:type="dcterms:W3CDTF">2026-06-29T08:59:41Z</dcterms:created>
  <dcterms:modified xsi:type="dcterms:W3CDTF">2026-06-29T10:39:28Z</dcterms:modified>
</cp:coreProperties>
</file>