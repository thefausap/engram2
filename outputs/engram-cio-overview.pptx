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1953d198d4a65" /><Relationship Type="http://schemas.openxmlformats.org/officeDocument/2006/relationships/extended-properties" Target="/docProps/app.xml" Id="R69215d89ea13414e" /><Relationship Type="http://schemas.openxmlformats.org/officeDocument/2006/relationships/officeDocument" Target="/ppt/presentation.xml" Id="R519d5cf7d76a42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0ed8ed3ea048e8"/>
  </p:sldMasterIdLst>
  <p:notesMasterIdLst>
    <p:notesMasterId xmlns:r="http://schemas.openxmlformats.org/officeDocument/2006/relationships" r:id="Rfbdd7e2bdfdc4083"/>
  </p:notesMasterIdLst>
  <p:sldIdLst>
    <p:sldId xmlns:r="http://schemas.openxmlformats.org/officeDocument/2006/relationships" id="256" r:id="Ra0ea9342f70441f2"/>
    <p:sldId xmlns:r="http://schemas.openxmlformats.org/officeDocument/2006/relationships" id="257" r:id="R10db39c133e545d5"/>
    <p:sldId xmlns:r="http://schemas.openxmlformats.org/officeDocument/2006/relationships" id="258" r:id="Re24f297c471342c7"/>
    <p:sldId xmlns:r="http://schemas.openxmlformats.org/officeDocument/2006/relationships" id="259" r:id="R7cd77c5d4f194784"/>
    <p:sldId xmlns:r="http://schemas.openxmlformats.org/officeDocument/2006/relationships" id="260" r:id="R627b709b488f466d"/>
    <p:sldId xmlns:r="http://schemas.openxmlformats.org/officeDocument/2006/relationships" id="261" r:id="R58d31c9aadf6493b"/>
    <p:sldId xmlns:r="http://schemas.openxmlformats.org/officeDocument/2006/relationships" id="262" r:id="R027c365fa1b042d9"/>
    <p:sldId xmlns:r="http://schemas.openxmlformats.org/officeDocument/2006/relationships" id="263" r:id="R584655e8d6da427f"/>
    <p:sldId xmlns:r="http://schemas.openxmlformats.org/officeDocument/2006/relationships" id="264" r:id="Ra9b199962e274c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c634240284d41" /><Relationship Type="http://schemas.openxmlformats.org/officeDocument/2006/relationships/slideMaster" Target="/ppt/slideMasters/slideMaster1.xml" Id="R270ed8ed3ea048e8" /><Relationship Type="http://schemas.openxmlformats.org/officeDocument/2006/relationships/notesMaster" Target="/ppt/notesMasters/notesMaster1.xml" Id="Rfbdd7e2bdfdc4083" /><Relationship Type="http://schemas.openxmlformats.org/officeDocument/2006/relationships/presProps" Target="/ppt/presProps.xml" Id="R19eb3b7692ab4454" /><Relationship Type="http://schemas.openxmlformats.org/officeDocument/2006/relationships/tableStyles" Target="/ppt/tableStyles.xml" Id="R0a1c33f8b9d24ce1" /><Relationship Type="http://schemas.openxmlformats.org/officeDocument/2006/relationships/slide" Target="/ppt/slides/slide1.xml" Id="Ra0ea9342f70441f2" /><Relationship Type="http://schemas.openxmlformats.org/officeDocument/2006/relationships/slide" Target="/ppt/slides/slide2.xml" Id="R10db39c133e545d5" /><Relationship Type="http://schemas.openxmlformats.org/officeDocument/2006/relationships/slide" Target="/ppt/slides/slide3.xml" Id="Re24f297c471342c7" /><Relationship Type="http://schemas.openxmlformats.org/officeDocument/2006/relationships/slide" Target="/ppt/slides/slide4.xml" Id="R7cd77c5d4f194784" /><Relationship Type="http://schemas.openxmlformats.org/officeDocument/2006/relationships/slide" Target="/ppt/slides/slide5.xml" Id="R627b709b488f466d" /><Relationship Type="http://schemas.openxmlformats.org/officeDocument/2006/relationships/slide" Target="/ppt/slides/slide6.xml" Id="R58d31c9aadf6493b" /><Relationship Type="http://schemas.openxmlformats.org/officeDocument/2006/relationships/slide" Target="/ppt/slides/slide7.xml" Id="R027c365fa1b042d9" /><Relationship Type="http://schemas.openxmlformats.org/officeDocument/2006/relationships/slide" Target="/ppt/slides/slide8.xml" Id="R584655e8d6da427f" /><Relationship Type="http://schemas.openxmlformats.org/officeDocument/2006/relationships/slide" Target="/ppt/slides/slide9.xml" Id="Ra9b199962e27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74e8a4169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2f095131524467" /><Relationship Type="http://schemas.openxmlformats.org/officeDocument/2006/relationships/notesMaster" Target="/ppt/notesMasters/notesMaster1.xml" Id="R3620d2db47be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5fe50402bd437a" /><Relationship Type="http://schemas.openxmlformats.org/officeDocument/2006/relationships/notesMaster" Target="/ppt/notesMasters/notesMaster1.xml" Id="Rfe9c9e8d0e15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66631b26a403e" /><Relationship Type="http://schemas.openxmlformats.org/officeDocument/2006/relationships/notesMaster" Target="/ppt/notesMasters/notesMaster1.xml" Id="R8f563775d5ae41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ee35bfc8154e35" /><Relationship Type="http://schemas.openxmlformats.org/officeDocument/2006/relationships/notesMaster" Target="/ppt/notesMasters/notesMaster1.xml" Id="R69eb59d694d84d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495dd56824ecb" /><Relationship Type="http://schemas.openxmlformats.org/officeDocument/2006/relationships/notesMaster" Target="/ppt/notesMasters/notesMaster1.xml" Id="R2027505fe8a84a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04308feff48f5" /><Relationship Type="http://schemas.openxmlformats.org/officeDocument/2006/relationships/notesMaster" Target="/ppt/notesMasters/notesMaster1.xml" Id="R9fc461655978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af1cc9c7894eed" /><Relationship Type="http://schemas.openxmlformats.org/officeDocument/2006/relationships/notesMaster" Target="/ppt/notesMasters/notesMaster1.xml" Id="R069ad411650148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b11739c4ca49db" /><Relationship Type="http://schemas.openxmlformats.org/officeDocument/2006/relationships/notesMaster" Target="/ppt/notesMasters/notesMaster1.xml" Id="R59a05b773ef44d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283afa29e140c2" /><Relationship Type="http://schemas.openxmlformats.org/officeDocument/2006/relationships/notesMaster" Target="/ppt/notesMasters/notesMaster1.xml" Id="Ra6a345525ae6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23929598c43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850318ec6e4529" /><Relationship Type="http://schemas.openxmlformats.org/officeDocument/2006/relationships/slideLayout" Target="/ppt/slideLayouts/slideLayout1.xml" Id="R34623eda0560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23eda0560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9474b386c472f" /><Relationship Type="http://schemas.openxmlformats.org/officeDocument/2006/relationships/image" Target="/ppt/media/image.jpeg" Id="R996eea0207f44a36" /><Relationship Type="http://schemas.openxmlformats.org/officeDocument/2006/relationships/notesSlide" Target="/ppt/notesSlides/notesSlide1.xml" Id="Rcf1b46911905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4deb0f17f45ac" /><Relationship Type="http://schemas.openxmlformats.org/officeDocument/2006/relationships/notesSlide" Target="/ppt/notesSlides/notesSlide2.xml" Id="R5702a0987b3344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7e78a8564497c" /><Relationship Type="http://schemas.openxmlformats.org/officeDocument/2006/relationships/notesSlide" Target="/ppt/notesSlides/notesSlide3.xml" Id="Ra2e95de9be26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14f29ca1f4f49" /><Relationship Type="http://schemas.openxmlformats.org/officeDocument/2006/relationships/notesSlide" Target="/ppt/notesSlides/notesSlide4.xml" Id="Rc3879ab1ec8e4c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5c81c5d614605" /><Relationship Type="http://schemas.openxmlformats.org/officeDocument/2006/relationships/notesSlide" Target="/ppt/notesSlides/notesSlide5.xml" Id="R1bfb560ca48d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9d0eff674e21" /><Relationship Type="http://schemas.openxmlformats.org/officeDocument/2006/relationships/notesSlide" Target="/ppt/notesSlides/notesSlide6.xml" Id="Rff103c6207c0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00665e5b24703" /><Relationship Type="http://schemas.openxmlformats.org/officeDocument/2006/relationships/notesSlide" Target="/ppt/notesSlides/notesSlide7.xml" Id="Rb20480440c534c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b814a815749a9" /><Relationship Type="http://schemas.openxmlformats.org/officeDocument/2006/relationships/notesSlide" Target="/ppt/notesSlides/notesSlide8.xml" Id="Rc624140636ad4b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c7b4b23e94cbb" /><Relationship Type="http://schemas.openxmlformats.org/officeDocument/2006/relationships/notesSlide" Target="/ppt/notesSlides/notesSlide9.xml" Id="R9af88177b69444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image-background">
            <a:extLst xmlns:a="http://schemas.openxmlformats.org/drawingml/2006/main">
              <a:ext uri="{FF2B5EF4-FFF2-40B4-BE49-F238E27FC236}">
                <a16:creationId xmlns:a16="http://schemas.microsoft.com/office/drawing/2014/main" id="{335849E0-81AF-489C-A505-2B310B8D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51244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eea0207f44a36"/>
          <a:stretch xmlns:a="http://schemas.openxmlformats.org/drawingml/2006/main"/>
        </p:blipFill>
        <p:spPr>
          <a:xfrm xmlns:a="http://schemas.openxmlformats.org/drawingml/2006/main">
            <a:off x="6743700" y="1735336"/>
            <a:ext cx="4972050" cy="2796778"/>
          </a:xfrm>
          <a:prstGeom xmlns:a="http://schemas.openxmlformats.org/drawingml/2006/main" prst="rect">
            <a:avLst/>
          </a:prstGeom>
        </p:spPr>
      </p:pic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D2B32B4-9D56-4DA6-8A38-39D43CC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B481F80-3E16-4DDE-93E2-8829ACBA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EXECUTIVE BRIEFING</a:t>
            </a:r>
          </a:p>
        </p:txBody>
      </p:sp>
      <p:sp>
        <p:nvSpPr>
          <p:cNvPr id="5" name="cover-name">
            <a:extLst xmlns:a="http://schemas.openxmlformats.org/drawingml/2006/main">
              <a:ext uri="{FF2B5EF4-FFF2-40B4-BE49-F238E27FC236}">
                <a16:creationId xmlns:a16="http://schemas.microsoft.com/office/drawing/2014/main" id="{0D650E42-ED49-40AD-9629-78BC2536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09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A0A0A"/>
                </a:solidFill>
              </a:defRPr>
            </a:pPr>
            <a:r>
              <a:t>ENGRAM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F3993A0-01B4-4DD3-B5F9-A05293D2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571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0A0A0A"/>
                </a:solidFill>
              </a:defRPr>
            </a:pPr>
            <a:r>
              <a:t>A local-first,
memory-augmented
AI assistant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8EB13B-55C1-45A4-9E3C-3916E174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5905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424"/>
                </a:solidFill>
              </a:defRPr>
            </a:pPr>
            <a:r>
              <a:t>What the PoC demonstrates, how it is controlled, and what it would take to move toward an enterprise pilot.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B8FC922F-21F2-46E5-9C44-B61E7D83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428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  <a:r>
              <a:t>CIO audience · 24 June 2026</a:t>
            </a:r>
          </a:p>
        </p:txBody>
      </p:sp>
    </p:spTree>
    <p:extLst>
      <p:ext uri="{BB962C8B-B14F-4D97-AF65-F5344CB8AC3E}">
        <p14:creationId xmlns:p14="http://schemas.microsoft.com/office/powerpoint/2010/main" val="94443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033002C7-F13E-4572-A932-D320DFD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The PoC proves an operating model, not just a chatbot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9C9C2AD-1B87-4B8C-8F6C-9F79322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2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AF2737DB-A569-447F-A39F-9B2C4DF9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049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A0A0A"/>
                </a:solidFill>
              </a:defRPr>
            </a:pPr>
            <a:r>
              <a:t>ENGRAM combines local inference, persistent organizational memory, controlled knowledge ingestion, live verification, and an inspectable quality loop in one working experience.</a:t>
            </a:r>
          </a:p>
        </p:txBody>
      </p:sp>
      <p:sp>
        <p:nvSpPr>
          <p:cNvPr id="4" name="control-mark">
            <a:extLst xmlns:a="http://schemas.openxmlformats.org/drawingml/2006/main">
              <a:ext uri="{FF2B5EF4-FFF2-40B4-BE49-F238E27FC236}">
                <a16:creationId xmlns:a16="http://schemas.microsoft.com/office/drawing/2014/main" id="{53529DC9-54CC-4147-B58C-E0145736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5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69A20C00-4F8A-4449-897F-00ADEBE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t>Control</a:t>
            </a:r>
          </a:p>
        </p:txBody>
      </p:sp>
      <p:sp>
        <p:nvSpPr>
          <p:cNvPr id="6" name="control-body">
            <a:extLst xmlns:a="http://schemas.openxmlformats.org/drawingml/2006/main">
              <a:ext uri="{FF2B5EF4-FFF2-40B4-BE49-F238E27FC236}">
                <a16:creationId xmlns:a16="http://schemas.microsoft.com/office/drawing/2014/main" id="{EBC98466-1B48-414F-96D9-DB4F82F4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95600"/>
            <a:ext cx="819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424"/>
                </a:solidFill>
              </a:defRPr>
            </a:pPr>
            <a:r>
              <a:t>The model endpoint, histories, prompts and vector memory are operated locally in the current design.</a:t>
            </a:r>
          </a:p>
        </p:txBody>
      </p:sp>
      <p:sp>
        <p:nvSpPr>
          <p:cNvPr id="7" name="continuity-mark">
            <a:extLst xmlns:a="http://schemas.openxmlformats.org/drawingml/2006/main">
              <a:ext uri="{FF2B5EF4-FFF2-40B4-BE49-F238E27FC236}">
                <a16:creationId xmlns:a16="http://schemas.microsoft.com/office/drawing/2014/main" id="{B883A8AC-23E1-46A5-B038-E3599892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71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8" name="continuity-label">
            <a:extLst xmlns:a="http://schemas.openxmlformats.org/drawingml/2006/main">
              <a:ext uri="{FF2B5EF4-FFF2-40B4-BE49-F238E27FC236}">
                <a16:creationId xmlns:a16="http://schemas.microsoft.com/office/drawing/2014/main" id="{A65C2C72-86E6-4540-BE92-D38CC72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t>Continuity</a:t>
            </a:r>
          </a:p>
        </p:txBody>
      </p:sp>
      <p:sp>
        <p:nvSpPr>
          <p:cNvPr id="9" name="continuity-body">
            <a:extLst xmlns:a="http://schemas.openxmlformats.org/drawingml/2006/main">
              <a:ext uri="{FF2B5EF4-FFF2-40B4-BE49-F238E27FC236}">
                <a16:creationId xmlns:a16="http://schemas.microsoft.com/office/drawing/2014/main" id="{784323E1-096D-45DE-AF56-BCC67D2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819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424"/>
                </a:solidFill>
              </a:defRPr>
            </a:pPr>
            <a:r>
              <a:t>Three memory types preserve conversations, reusable knowledge and learned procedures across sessions.</a:t>
            </a:r>
          </a:p>
        </p:txBody>
      </p:sp>
      <p:sp>
        <p:nvSpPr>
          <p:cNvPr id="10" name="adaptation-mark">
            <a:extLst xmlns:a="http://schemas.openxmlformats.org/drawingml/2006/main">
              <a:ext uri="{FF2B5EF4-FFF2-40B4-BE49-F238E27FC236}">
                <a16:creationId xmlns:a16="http://schemas.microsoft.com/office/drawing/2014/main" id="{871095E1-46A9-415D-A356-90937529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1" name="adaptation-label">
            <a:extLst xmlns:a="http://schemas.openxmlformats.org/drawingml/2006/main">
              <a:ext uri="{FF2B5EF4-FFF2-40B4-BE49-F238E27FC236}">
                <a16:creationId xmlns:a16="http://schemas.microsoft.com/office/drawing/2014/main" id="{9B65AD48-20E1-4CE2-90C5-7197D5F1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t>Adaptation</a:t>
            </a:r>
          </a:p>
        </p:txBody>
      </p:sp>
      <p:sp>
        <p:nvSpPr>
          <p:cNvPr id="12" name="adaptation-body">
            <a:extLst xmlns:a="http://schemas.openxmlformats.org/drawingml/2006/main">
              <a:ext uri="{FF2B5EF4-FFF2-40B4-BE49-F238E27FC236}">
                <a16:creationId xmlns:a16="http://schemas.microsoft.com/office/drawing/2014/main" id="{9B9ADC07-D9BE-4094-847A-963EB072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819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424"/>
                </a:solidFill>
              </a:defRPr>
            </a:pPr>
            <a:r>
              <a:t>Every response can be validated, improved and translated into bounded future guidance without rewriting the personality file.</a:t>
            </a:r>
          </a:p>
        </p:txBody>
      </p:sp>
      <p:sp>
        <p:nvSpPr>
          <p:cNvPr id="13" name="exec-bottom-band">
            <a:extLst xmlns:a="http://schemas.openxmlformats.org/drawingml/2006/main">
              <a:ext uri="{FF2B5EF4-FFF2-40B4-BE49-F238E27FC236}">
                <a16:creationId xmlns:a16="http://schemas.microsoft.com/office/drawing/2014/main" id="{72E0CA36-033F-4FE0-A192-0236744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</p:spPr>
      </p:sp>
      <p:sp>
        <p:nvSpPr>
          <p:cNvPr id="14" name="exec-band-label">
            <a:extLst xmlns:a="http://schemas.openxmlformats.org/drawingml/2006/main">
              <a:ext uri="{FF2B5EF4-FFF2-40B4-BE49-F238E27FC236}">
                <a16:creationId xmlns:a16="http://schemas.microsoft.com/office/drawing/2014/main" id="{B2FF6987-D5DC-4FF6-A531-6B88827C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CIO relevance</a:t>
            </a:r>
          </a:p>
        </p:txBody>
      </p:sp>
      <p:sp>
        <p:nvSpPr>
          <p:cNvPr id="15" name="exec-band-copy">
            <a:extLst xmlns:a="http://schemas.openxmlformats.org/drawingml/2006/main">
              <a:ext uri="{FF2B5EF4-FFF2-40B4-BE49-F238E27FC236}">
                <a16:creationId xmlns:a16="http://schemas.microsoft.com/office/drawing/2014/main" id="{D977BAB9-93E6-43FD-95AD-3A9673A3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62650"/>
            <a:ext cx="895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A0A0A"/>
                </a:solidFill>
              </a:defRPr>
            </a:pPr>
            <a:r>
              <a:t>A concrete test bed for private AI patterns, knowledge continuity and governed agent behavior.</a:t>
            </a:r>
          </a:p>
        </p:txBody>
      </p:sp>
      <p:sp>
        <p:nvSpPr>
          <p:cNvPr id="16" name="source-2">
            <a:extLst xmlns:a="http://schemas.openxmlformats.org/drawingml/2006/main">
              <a:ext uri="{FF2B5EF4-FFF2-40B4-BE49-F238E27FC236}">
                <a16:creationId xmlns:a16="http://schemas.microsoft.com/office/drawing/2014/main" id="{FAB54BDA-5256-4589-A8E9-E250576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1906397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5906DA0D-81E8-4D3C-BE78-9AAF217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Architecture: local orchestration around a replaceable model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2A90B160-0070-41EE-B760-47FE1673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3</a:t>
            </a:r>
          </a:p>
        </p:txBody>
      </p:sp>
      <p:sp>
        <p:nvSpPr>
          <p:cNvPr id="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7A03345-96CC-4EB3-B389-9FC829AF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The model is one component. The durable value sits in memory, context assembly, ingestion and governance logic.</a:t>
            </a:r>
          </a:p>
        </p:txBody>
      </p:sp>
      <p:sp>
        <p:nvSpPr>
          <p:cNvPr id="4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DDF6AEDC-F9AF-444A-B5CA-353BE903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5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E7F897D5-15C7-4CA8-BFCF-B72CE8E0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6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293A84FE-2DFE-4EBA-AB73-B175D8A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7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475C4971-AE0B-4136-AD50-FAE01F5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3B61F3B3-F5A3-4036-B7A9-69D6EF8F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9240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AD05C7FB-2046-46D0-985D-66E4F9C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50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t>Experience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6CBF9483-29E5-4283-A590-B9E8CC19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504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424"/>
                </a:solidFill>
              </a:defRPr>
            </a:pPr>
            <a:r>
              <a:t>Browser PoC
Terminal interface</a:t>
            </a:r>
          </a:p>
        </p:txBody>
      </p:sp>
      <p:sp>
        <p:nvSpPr>
          <p:cNvPr id="11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258BF8F-809F-4247-9256-B5680CBD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19240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2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B80837B0-5EBC-4C61-8E13-5022948D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19375"/>
            <a:ext cx="150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t>Orchestration</a:t>
            </a:r>
          </a:p>
        </p:txBody>
      </p:sp>
      <p:sp>
        <p:nvSpPr>
          <p:cNvPr id="13" name="arch-body-1">
            <a:extLst xmlns:a="http://schemas.openxmlformats.org/drawingml/2006/main">
              <a:ext uri="{FF2B5EF4-FFF2-40B4-BE49-F238E27FC236}">
                <a16:creationId xmlns:a16="http://schemas.microsoft.com/office/drawing/2014/main" id="{D968EF23-6BBC-4D55-93DF-3683541C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1504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424"/>
                </a:solidFill>
              </a:defRPr>
            </a:pPr>
            <a:r>
              <a:t>Prompt assembly
Commands
Context routing</a:t>
            </a:r>
          </a:p>
        </p:txBody>
      </p:sp>
      <p:sp>
        <p:nvSpPr>
          <p:cNvPr id="14" name="arch-node-2">
            <a:extLst xmlns:a="http://schemas.openxmlformats.org/drawingml/2006/main">
              <a:ext uri="{FF2B5EF4-FFF2-40B4-BE49-F238E27FC236}">
                <a16:creationId xmlns:a16="http://schemas.microsoft.com/office/drawing/2014/main" id="{44A543B4-0247-4F32-814F-35A1E80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19240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</p:spPr>
      </p:sp>
      <p:sp>
        <p:nvSpPr>
          <p:cNvPr id="15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35EB61ED-C168-4325-A6C7-D09416AF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19375"/>
            <a:ext cx="150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t>Intelligence</a:t>
            </a:r>
          </a:p>
        </p:txBody>
      </p:sp>
      <p:sp>
        <p:nvSpPr>
          <p:cNvPr id="16" name="arch-body-2">
            <a:extLst xmlns:a="http://schemas.openxmlformats.org/drawingml/2006/main">
              <a:ext uri="{FF2B5EF4-FFF2-40B4-BE49-F238E27FC236}">
                <a16:creationId xmlns:a16="http://schemas.microsoft.com/office/drawing/2014/main" id="{72281B1F-1540-4D8D-A7BE-A91D071D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0"/>
            <a:ext cx="1504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424"/>
                </a:solidFill>
              </a:defRPr>
            </a:pPr>
            <a:r>
              <a:t>Local LLM via
LM Studio
Optional Ollama path</a:t>
            </a:r>
          </a:p>
        </p:txBody>
      </p:sp>
      <p:sp>
        <p:nvSpPr>
          <p:cNvPr id="17" name="arch-node-3">
            <a:extLst xmlns:a="http://schemas.openxmlformats.org/drawingml/2006/main">
              <a:ext uri="{FF2B5EF4-FFF2-40B4-BE49-F238E27FC236}">
                <a16:creationId xmlns:a16="http://schemas.microsoft.com/office/drawing/2014/main" id="{0708BE0C-8ADA-4157-8A04-D338A65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9240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8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F7486AA6-16CC-474B-98AD-5D32581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19375"/>
            <a:ext cx="150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t>Memory</a:t>
            </a:r>
          </a:p>
        </p:txBody>
      </p:sp>
      <p:sp>
        <p:nvSpPr>
          <p:cNvPr id="19" name="arch-body-3">
            <a:extLst xmlns:a="http://schemas.openxmlformats.org/drawingml/2006/main">
              <a:ext uri="{FF2B5EF4-FFF2-40B4-BE49-F238E27FC236}">
                <a16:creationId xmlns:a16="http://schemas.microsoft.com/office/drawing/2014/main" id="{DDFDF0B9-D451-432B-AA83-36582A7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1504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424"/>
                </a:solidFill>
              </a:defRPr>
            </a:pPr>
            <a:r>
              <a:t>ChromaDB
Episodic
Semantic
Procedural</a:t>
            </a:r>
          </a:p>
        </p:txBody>
      </p:sp>
      <p:sp>
        <p:nvSpPr>
          <p:cNvPr id="20" name="arch-node-4">
            <a:extLst xmlns:a="http://schemas.openxmlformats.org/drawingml/2006/main">
              <a:ext uri="{FF2B5EF4-FFF2-40B4-BE49-F238E27FC236}">
                <a16:creationId xmlns:a16="http://schemas.microsoft.com/office/drawing/2014/main" id="{E6C604F0-6B36-4079-AA00-14AE5E9C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220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1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3351EBA4-C91B-4C2D-B99D-F751FEF5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1676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t>Knowledge</a:t>
            </a:r>
          </a:p>
        </p:txBody>
      </p:sp>
      <p:sp>
        <p:nvSpPr>
          <p:cNvPr id="22" name="arch-body-4">
            <a:extLst xmlns:a="http://schemas.openxmlformats.org/drawingml/2006/main">
              <a:ext uri="{FF2B5EF4-FFF2-40B4-BE49-F238E27FC236}">
                <a16:creationId xmlns:a16="http://schemas.microsoft.com/office/drawing/2014/main" id="{ED981B53-95A3-4A82-992F-D1277F0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6764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424"/>
                </a:solidFill>
              </a:defRPr>
            </a:pPr>
            <a:r>
              <a:t>Web search + URL
PDF/text/code
Vision input</a:t>
            </a:r>
          </a:p>
        </p:txBody>
      </p:sp>
      <p:sp>
        <p:nvSpPr>
          <p:cNvPr id="23" name="arch-governance-band">
            <a:extLst xmlns:a="http://schemas.openxmlformats.org/drawingml/2006/main">
              <a:ext uri="{FF2B5EF4-FFF2-40B4-BE49-F238E27FC236}">
                <a16:creationId xmlns:a16="http://schemas.microsoft.com/office/drawing/2014/main" id="{8E6BDA3D-9688-4A5F-AB23-7D508E4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</p:spPr>
      </p:sp>
      <p:sp>
        <p:nvSpPr>
          <p:cNvPr id="24" name="arch-governance-label">
            <a:extLst xmlns:a="http://schemas.openxmlformats.org/drawingml/2006/main">
              <a:ext uri="{FF2B5EF4-FFF2-40B4-BE49-F238E27FC236}">
                <a16:creationId xmlns:a16="http://schemas.microsoft.com/office/drawing/2014/main" id="{B562654D-7D25-453D-A107-9A298A56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266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t>Cross-cutting controls</a:t>
            </a:r>
          </a:p>
        </p:txBody>
      </p:sp>
      <p:sp>
        <p:nvSpPr>
          <p:cNvPr id="25" name="arch-governance-body">
            <a:extLst xmlns:a="http://schemas.openxmlformats.org/drawingml/2006/main">
              <a:ext uri="{FF2B5EF4-FFF2-40B4-BE49-F238E27FC236}">
                <a16:creationId xmlns:a16="http://schemas.microsoft.com/office/drawing/2014/main" id="{01A87117-8703-4A79-AB72-E0CE7BB2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57800"/>
            <a:ext cx="838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t>Character prompt · user identity · validation · adaptive guidance · backup/reset · memory inspection</a:t>
            </a:r>
          </a:p>
        </p:txBody>
      </p:sp>
      <p:sp>
        <p:nvSpPr>
          <p:cNvPr id="26" name="source-3">
            <a:extLst xmlns:a="http://schemas.openxmlformats.org/drawingml/2006/main">
              <a:ext uri="{FF2B5EF4-FFF2-40B4-BE49-F238E27FC236}">
                <a16:creationId xmlns:a16="http://schemas.microsoft.com/office/drawing/2014/main" id="{1E315480-0B03-47A1-9F2F-AB7426AA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4838970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7FBC45AE-2AE1-4A11-948F-A736E4EA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A broad PoC with enterprise-relevant primitives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A85A9A65-9B87-4BE6-BBC6-2CC43529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4</a:t>
            </a:r>
          </a:p>
        </p:txBody>
      </p:sp>
      <p:sp>
        <p:nvSpPr>
          <p:cNvPr id="3" name="metric-subtitle">
            <a:extLst xmlns:a="http://schemas.openxmlformats.org/drawingml/2006/main">
              <a:ext uri="{FF2B5EF4-FFF2-40B4-BE49-F238E27FC236}">
                <a16:creationId xmlns:a16="http://schemas.microsoft.com/office/drawing/2014/main" id="{351553FE-C42C-4F51-904C-E9E8F426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5B5B"/>
                </a:solidFill>
              </a:defRPr>
            </a:pPr>
            <a:r>
              <a:t>Implementation facts, not benchmark claims</a:t>
            </a:r>
          </a:p>
        </p:txBody>
      </p:sp>
      <p:sp>
        <p:nvSpPr>
          <p:cNvPr id="4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832C8837-D4EB-46AE-A6F4-D6F4632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571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</p:spPr>
      </p:sp>
      <p:sp>
        <p:nvSpPr>
          <p:cNvPr id="5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AD4749E4-ABEE-4B33-B757-B6431B28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114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DA5177E9-9DC8-4469-A328-FC16A0B5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t>memory domains</a:t>
            </a:r>
          </a:p>
        </p:txBody>
      </p:sp>
      <p:sp>
        <p:nvSpPr>
          <p:cNvPr id="7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CD1DF94F-AABC-40E9-9DC7-70CB17BF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114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Events, knowledge and procedures are separated.</a:t>
            </a:r>
          </a:p>
        </p:txBody>
      </p:sp>
      <p:sp>
        <p:nvSpPr>
          <p:cNvPr id="8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DCB33A04-6566-466C-8D3A-ABC6AF8D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00250"/>
            <a:ext cx="2571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6BC4B0C3-D932-4A32-B86B-7DD542B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47900"/>
            <a:ext cx="2114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</a:defRPr>
            </a:pPr>
            <a:r>
              <a:t>35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3D8990B-DC96-4109-9106-38F9BA0F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33725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t>conversation turns</a:t>
            </a:r>
          </a:p>
        </p:txBody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A6619F3D-6340-4292-9134-D604028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14750"/>
            <a:ext cx="2114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Recent dialogue is retained before trimming.</a:t>
            </a:r>
          </a:p>
        </p:txBody>
      </p:sp>
      <p:sp>
        <p:nvSpPr>
          <p:cNvPr id="12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6DB9711E-48E7-4D58-9525-98A0D42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571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3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DB5AE3F5-936C-4D8A-B96C-2F65AFEB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2114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</a:defRPr>
            </a:pPr>
            <a:r>
              <a:t>5 MB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687FDFB-3B22-4BA0-B998-ED208A8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t>file-ingest limit</a:t>
            </a:r>
          </a:p>
        </p:txBody>
      </p:sp>
      <p:sp>
        <p:nvSpPr>
          <p:cNvPr id="15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00D81A82-4365-437F-8F57-671F5627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2114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Text and source code are validated before storage.</a:t>
            </a:r>
          </a:p>
        </p:txBody>
      </p:sp>
      <p:sp>
        <p:nvSpPr>
          <p:cNvPr id="16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C4F235-E77A-481B-8975-6587C4FC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00250"/>
            <a:ext cx="2571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7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2DB56032-BD5B-4147-A4F4-613A4DFE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114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</a:defRPr>
            </a:pPr>
            <a:r>
              <a:t>8</a:t>
            </a:r>
          </a:p>
        </p:txBody>
      </p:sp>
      <p:sp>
        <p:nvSpPr>
          <p:cNvPr id="18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095B0E46-9367-4A04-BDD1-BF94A90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33725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t>adaptive rules</a:t>
            </a:r>
          </a:p>
        </p:txBody>
      </p:sp>
      <p:sp>
        <p:nvSpPr>
          <p:cNvPr id="19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8BCC0D15-B480-481E-94EC-8E2958C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14750"/>
            <a:ext cx="2114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Five corrective and three reinforcing rules maximum.</a:t>
            </a:r>
          </a:p>
        </p:txBody>
      </p:sp>
      <p:sp>
        <p:nvSpPr>
          <p:cNvPr id="20" name="metric-band">
            <a:extLst xmlns:a="http://schemas.openxmlformats.org/drawingml/2006/main">
              <a:ext uri="{FF2B5EF4-FFF2-40B4-BE49-F238E27FC236}">
                <a16:creationId xmlns:a16="http://schemas.microsoft.com/office/drawing/2014/main" id="{C63C09B8-BBEC-4713-BFCC-584E1CA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1150"/>
            <a:ext cx="1219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</p:spPr>
      </p:sp>
      <p:sp>
        <p:nvSpPr>
          <p:cNvPr id="21" name="metric-band-label">
            <a:extLst xmlns:a="http://schemas.openxmlformats.org/drawingml/2006/main">
              <a:ext uri="{FF2B5EF4-FFF2-40B4-BE49-F238E27FC236}">
                <a16:creationId xmlns:a16="http://schemas.microsoft.com/office/drawing/2014/main" id="{BAF90E0E-057D-4851-9F23-42B3305A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Also implemented</a:t>
            </a:r>
          </a:p>
        </p:txBody>
      </p:sp>
      <p:sp>
        <p:nvSpPr>
          <p:cNvPr id="22" name="metric-band-copy">
            <a:extLst xmlns:a="http://schemas.openxmlformats.org/drawingml/2006/main">
              <a:ext uri="{FF2B5EF4-FFF2-40B4-BE49-F238E27FC236}">
                <a16:creationId xmlns:a16="http://schemas.microsoft.com/office/drawing/2014/main" id="{783B9F59-3914-4196-92F8-A2F127C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9048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Web verification · direct URL reading · PDF ingestion · text/code ingestion · image analysis · Markdown/LaTeX rendering</a:t>
            </a:r>
          </a:p>
        </p:txBody>
      </p:sp>
      <p:sp>
        <p:nvSpPr>
          <p:cNvPr id="23" name="source-4">
            <a:extLst xmlns:a="http://schemas.openxmlformats.org/drawingml/2006/main">
              <a:ext uri="{FF2B5EF4-FFF2-40B4-BE49-F238E27FC236}">
                <a16:creationId xmlns:a16="http://schemas.microsoft.com/office/drawing/2014/main" id="{4850CF72-B3BA-46D9-A255-3DFB3A0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963053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B5EB31EE-EF07-4D58-B4EF-BC59DFA4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Capability scope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BE5D7FFF-3726-4F30-A4C0-9EFB0139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5</a:t>
            </a:r>
          </a:p>
        </p:txBody>
      </p:sp>
      <p:sp>
        <p:nvSpPr>
          <p:cNvPr id="3" name="capabilities-intro">
            <a:extLst xmlns:a="http://schemas.openxmlformats.org/drawingml/2006/main">
              <a:ext uri="{FF2B5EF4-FFF2-40B4-BE49-F238E27FC236}">
                <a16:creationId xmlns:a16="http://schemas.microsoft.com/office/drawing/2014/main" id="{D143A701-56A2-4C98-808D-97A5B9C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"/>
            <a:ext cx="723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Six capability domains now work together in one local experience.</a:t>
            </a:r>
          </a:p>
        </p:txBody>
      </p:sp>
      <p:sp>
        <p:nvSpPr>
          <p:cNvPr id="4" name="cap-label-0">
            <a:extLst xmlns:a="http://schemas.openxmlformats.org/drawingml/2006/main">
              <a:ext uri="{FF2B5EF4-FFF2-40B4-BE49-F238E27FC236}">
                <a16:creationId xmlns:a16="http://schemas.microsoft.com/office/drawing/2014/main" id="{ECC81F40-B4CD-4E75-80D2-FD7AC01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MEMORY</a:t>
            </a:r>
          </a:p>
        </p:txBody>
      </p:sp>
      <p:sp>
        <p:nvSpPr>
          <p:cNvPr id="5" name="cap-body-0">
            <a:extLst xmlns:a="http://schemas.openxmlformats.org/drawingml/2006/main">
              <a:ext uri="{FF2B5EF4-FFF2-40B4-BE49-F238E27FC236}">
                <a16:creationId xmlns:a16="http://schemas.microsoft.com/office/drawing/2014/main" id="{D213DD40-8DAD-4119-A81E-42F7FE5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43025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Semantic recall across conversations, facts and reusable procedures</a:t>
            </a:r>
          </a:p>
        </p:txBody>
      </p:sp>
      <p:sp>
        <p:nvSpPr>
          <p:cNvPr id="6" name="cap-rule-0">
            <a:extLst xmlns:a="http://schemas.openxmlformats.org/drawingml/2006/main">
              <a:ext uri="{FF2B5EF4-FFF2-40B4-BE49-F238E27FC236}">
                <a16:creationId xmlns:a16="http://schemas.microsoft.com/office/drawing/2014/main" id="{8BB0F59B-2D45-4870-A974-78FA0EA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954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cap-label-1">
            <a:extLst xmlns:a="http://schemas.openxmlformats.org/drawingml/2006/main">
              <a:ext uri="{FF2B5EF4-FFF2-40B4-BE49-F238E27FC236}">
                <a16:creationId xmlns:a16="http://schemas.microsoft.com/office/drawing/2014/main" id="{41C9CD58-F604-4B6F-BBDD-A478A67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6217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KNOWLEDGE</a:t>
            </a:r>
          </a:p>
        </p:txBody>
      </p:sp>
      <p:sp>
        <p:nvSpPr>
          <p:cNvPr id="8" name="cap-body-1">
            <a:extLst xmlns:a="http://schemas.openxmlformats.org/drawingml/2006/main">
              <a:ext uri="{FF2B5EF4-FFF2-40B4-BE49-F238E27FC236}">
                <a16:creationId xmlns:a16="http://schemas.microsoft.com/office/drawing/2014/main" id="{E2BC94BA-DA7E-4FE0-ABA0-E293B621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24075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Ingest URLs, PDFs, text files and source code into vector memory</a:t>
            </a:r>
          </a:p>
        </p:txBody>
      </p:sp>
      <p:sp>
        <p:nvSpPr>
          <p:cNvPr id="9" name="cap-rule-1">
            <a:extLst xmlns:a="http://schemas.openxmlformats.org/drawingml/2006/main">
              <a:ext uri="{FF2B5EF4-FFF2-40B4-BE49-F238E27FC236}">
                <a16:creationId xmlns:a16="http://schemas.microsoft.com/office/drawing/2014/main" id="{4B13D0E7-54E9-44CC-81CD-7C5EF48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765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cap-label-2">
            <a:extLst xmlns:a="http://schemas.openxmlformats.org/drawingml/2006/main">
              <a:ext uri="{FF2B5EF4-FFF2-40B4-BE49-F238E27FC236}">
                <a16:creationId xmlns:a16="http://schemas.microsoft.com/office/drawing/2014/main" id="{45A47E13-F838-47F9-B228-25CD0F48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4322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VERIFICATION</a:t>
            </a:r>
          </a:p>
        </p:txBody>
      </p:sp>
      <p:sp>
        <p:nvSpPr>
          <p:cNvPr id="11" name="cap-body-2">
            <a:extLst xmlns:a="http://schemas.openxmlformats.org/drawingml/2006/main">
              <a:ext uri="{FF2B5EF4-FFF2-40B4-BE49-F238E27FC236}">
                <a16:creationId xmlns:a16="http://schemas.microsoft.com/office/drawing/2014/main" id="{79446198-7027-47DF-8E96-3E74705F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DuckDuckGo search and direct page retrieval for current or specific facts</a:t>
            </a:r>
          </a:p>
        </p:txBody>
      </p:sp>
      <p:sp>
        <p:nvSpPr>
          <p:cNvPr id="12" name="cap-rule-2">
            <a:extLst xmlns:a="http://schemas.openxmlformats.org/drawingml/2006/main">
              <a:ext uri="{FF2B5EF4-FFF2-40B4-BE49-F238E27FC236}">
                <a16:creationId xmlns:a16="http://schemas.microsoft.com/office/drawing/2014/main" id="{93C9D765-F7FC-41D8-94FA-6E0FF668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575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cap-label-3">
            <a:extLst xmlns:a="http://schemas.openxmlformats.org/drawingml/2006/main">
              <a:ext uri="{FF2B5EF4-FFF2-40B4-BE49-F238E27FC236}">
                <a16:creationId xmlns:a16="http://schemas.microsoft.com/office/drawing/2014/main" id="{FA74F326-DB9C-4685-97EC-9112A66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MULTIMODAL</a:t>
            </a:r>
          </a:p>
        </p:txBody>
      </p:sp>
      <p:sp>
        <p:nvSpPr>
          <p:cNvPr id="14" name="cap-body-3">
            <a:extLst xmlns:a="http://schemas.openxmlformats.org/drawingml/2006/main">
              <a:ext uri="{FF2B5EF4-FFF2-40B4-BE49-F238E27FC236}">
                <a16:creationId xmlns:a16="http://schemas.microsoft.com/office/drawing/2014/main" id="{459ADF4D-4445-44FE-A46F-D8147AA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86175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Image input path for charts, diagrams and screenshots when the model supports vision</a:t>
            </a:r>
          </a:p>
        </p:txBody>
      </p:sp>
      <p:sp>
        <p:nvSpPr>
          <p:cNvPr id="15" name="cap-rule-3">
            <a:extLst xmlns:a="http://schemas.openxmlformats.org/drawingml/2006/main">
              <a:ext uri="{FF2B5EF4-FFF2-40B4-BE49-F238E27FC236}">
                <a16:creationId xmlns:a16="http://schemas.microsoft.com/office/drawing/2014/main" id="{2706AB74-423B-44DF-A1ED-F980C744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386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6" name="cap-label-4">
            <a:extLst xmlns:a="http://schemas.openxmlformats.org/drawingml/2006/main">
              <a:ext uri="{FF2B5EF4-FFF2-40B4-BE49-F238E27FC236}">
                <a16:creationId xmlns:a16="http://schemas.microsoft.com/office/drawing/2014/main" id="{8CCB882D-C57B-4DC9-8BED-89A203A6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EXPERIENCE</a:t>
            </a:r>
          </a:p>
        </p:txBody>
      </p:sp>
      <p:sp>
        <p:nvSpPr>
          <p:cNvPr id="17" name="cap-body-4">
            <a:extLst xmlns:a="http://schemas.openxmlformats.org/drawingml/2006/main">
              <a:ext uri="{FF2B5EF4-FFF2-40B4-BE49-F238E27FC236}">
                <a16:creationId xmlns:a16="http://schemas.microsoft.com/office/drawing/2014/main" id="{AC86C22A-8ECA-467C-8BF1-5A5AC40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67225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Browser UI with state visualization, memory inspection and rich Markdown/math/code output</a:t>
            </a:r>
          </a:p>
        </p:txBody>
      </p:sp>
      <p:sp>
        <p:nvSpPr>
          <p:cNvPr id="18" name="cap-rule-4">
            <a:extLst xmlns:a="http://schemas.openxmlformats.org/drawingml/2006/main">
              <a:ext uri="{FF2B5EF4-FFF2-40B4-BE49-F238E27FC236}">
                <a16:creationId xmlns:a16="http://schemas.microsoft.com/office/drawing/2014/main" id="{9F2DCB4F-213B-4B54-9D28-60E18FFE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96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9" name="cap-label-5">
            <a:extLst xmlns:a="http://schemas.openxmlformats.org/drawingml/2006/main">
              <a:ext uri="{FF2B5EF4-FFF2-40B4-BE49-F238E27FC236}">
                <a16:creationId xmlns:a16="http://schemas.microsoft.com/office/drawing/2014/main" id="{31FF3192-07FA-4BFA-87F9-2081042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t>QUALITY</a:t>
            </a:r>
          </a:p>
        </p:txBody>
      </p:sp>
      <p:sp>
        <p:nvSpPr>
          <p:cNvPr id="20" name="cap-body-5">
            <a:extLst xmlns:a="http://schemas.openxmlformats.org/drawingml/2006/main">
              <a:ext uri="{FF2B5EF4-FFF2-40B4-BE49-F238E27FC236}">
                <a16:creationId xmlns:a16="http://schemas.microsoft.com/office/drawing/2014/main" id="{F232DA10-AE2A-4E22-A093-F8A29801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A0A0A"/>
                </a:solidFill>
              </a:defRPr>
            </a:pPr>
            <a:r>
              <a:t>Self-critique, missing-code repair, tool-token cleanup and bounded adaptive prompt guidance</a:t>
            </a:r>
          </a:p>
        </p:txBody>
      </p:sp>
      <p:sp>
        <p:nvSpPr>
          <p:cNvPr id="21" name="cap-rule-5">
            <a:extLst xmlns:a="http://schemas.openxmlformats.org/drawingml/2006/main">
              <a:ext uri="{FF2B5EF4-FFF2-40B4-BE49-F238E27FC236}">
                <a16:creationId xmlns:a16="http://schemas.microsoft.com/office/drawing/2014/main" id="{D6557EC9-93BC-4C67-935C-A73CAD2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007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2" name="source-5">
            <a:extLst xmlns:a="http://schemas.openxmlformats.org/drawingml/2006/main">
              <a:ext uri="{FF2B5EF4-FFF2-40B4-BE49-F238E27FC236}">
                <a16:creationId xmlns:a16="http://schemas.microsoft.com/office/drawing/2014/main" id="{3FAF4AB0-1F3B-45B6-A0C0-661DB0D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790340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9C8F6091-DA0E-4747-B49F-ACC2641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Adaptive quality is bounded and inspectable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18F0568D-F28F-4E6E-AC8F-6014B48C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6</a:t>
            </a:r>
          </a:p>
        </p:txBody>
      </p:sp>
      <p:sp>
        <p:nvSpPr>
          <p:cNvPr id="3" name="learning-subtitle">
            <a:extLst xmlns:a="http://schemas.openxmlformats.org/drawingml/2006/main">
              <a:ext uri="{FF2B5EF4-FFF2-40B4-BE49-F238E27FC236}">
                <a16:creationId xmlns:a16="http://schemas.microsoft.com/office/drawing/2014/main" id="{D291AA65-D43A-4D50-AE09-E766035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The personality file remains authoritative. Validation only updates a small, inspectable guidance layer.</a:t>
            </a:r>
          </a:p>
        </p:txBody>
      </p:sp>
      <p:sp>
        <p:nvSpPr>
          <p:cNvPr id="4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ADC44783-CCE3-406B-B6F8-3CFE475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38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5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95BBF007-951D-4822-BD9A-5E9E02AF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05150"/>
            <a:ext cx="38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6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9A0B2838-4C50-4514-BADF-386FF0E3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38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7" name="loop-card-0">
            <a:extLst xmlns:a="http://schemas.openxmlformats.org/drawingml/2006/main">
              <a:ext uri="{FF2B5EF4-FFF2-40B4-BE49-F238E27FC236}">
                <a16:creationId xmlns:a16="http://schemas.microsoft.com/office/drawing/2014/main" id="{BFBA4EB3-3040-4B15-891E-D6FB447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524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8" name="loop-num-0">
            <a:extLst xmlns:a="http://schemas.openxmlformats.org/drawingml/2006/main">
              <a:ext uri="{FF2B5EF4-FFF2-40B4-BE49-F238E27FC236}">
                <a16:creationId xmlns:a16="http://schemas.microsoft.com/office/drawing/2014/main" id="{F5BA66F4-B822-449D-845C-A1307B5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7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9" name="loop-label-0">
            <a:extLst xmlns:a="http://schemas.openxmlformats.org/drawingml/2006/main">
              <a:ext uri="{FF2B5EF4-FFF2-40B4-BE49-F238E27FC236}">
                <a16:creationId xmlns:a16="http://schemas.microsoft.com/office/drawing/2014/main" id="{7137CE23-A4A6-46FE-BE26-416D3FF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Generate</a:t>
            </a:r>
          </a:p>
        </p:txBody>
      </p:sp>
      <p:sp>
        <p:nvSpPr>
          <p:cNvPr id="10" name="loop-body-0">
            <a:extLst xmlns:a="http://schemas.openxmlformats.org/drawingml/2006/main">
              <a:ext uri="{FF2B5EF4-FFF2-40B4-BE49-F238E27FC236}">
                <a16:creationId xmlns:a16="http://schemas.microsoft.com/office/drawing/2014/main" id="{19A4212F-63B8-4FFC-9E00-626E179D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Answer using prompt, memory, context and tools.</a:t>
            </a:r>
          </a:p>
        </p:txBody>
      </p:sp>
      <p:sp>
        <p:nvSpPr>
          <p:cNvPr id="11" name="loop-card-1">
            <a:extLst xmlns:a="http://schemas.openxmlformats.org/drawingml/2006/main">
              <a:ext uri="{FF2B5EF4-FFF2-40B4-BE49-F238E27FC236}">
                <a16:creationId xmlns:a16="http://schemas.microsoft.com/office/drawing/2014/main" id="{40ADE899-CB5B-4511-AD1F-461BF823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05050"/>
            <a:ext cx="2524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2" name="loop-num-1">
            <a:extLst xmlns:a="http://schemas.openxmlformats.org/drawingml/2006/main">
              <a:ext uri="{FF2B5EF4-FFF2-40B4-BE49-F238E27FC236}">
                <a16:creationId xmlns:a16="http://schemas.microsoft.com/office/drawing/2014/main" id="{6E398F84-E1A7-4DEF-A582-3BE558AF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14600"/>
            <a:ext cx="47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3" name="loop-label-1">
            <a:extLst xmlns:a="http://schemas.openxmlformats.org/drawingml/2006/main">
              <a:ext uri="{FF2B5EF4-FFF2-40B4-BE49-F238E27FC236}">
                <a16:creationId xmlns:a16="http://schemas.microsoft.com/office/drawing/2014/main" id="{422C8E9D-138A-4929-B057-884D857B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670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Validate</a:t>
            </a:r>
          </a:p>
        </p:txBody>
      </p:sp>
      <p:sp>
        <p:nvSpPr>
          <p:cNvPr id="14" name="loop-body-1">
            <a:extLst xmlns:a="http://schemas.openxmlformats.org/drawingml/2006/main">
              <a:ext uri="{FF2B5EF4-FFF2-40B4-BE49-F238E27FC236}">
                <a16:creationId xmlns:a16="http://schemas.microsoft.com/office/drawing/2014/main" id="{E3B32C8C-1A4A-4707-AB14-1D3556CE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Score quality, accuracy, formatting and character consistency.</a:t>
            </a:r>
          </a:p>
        </p:txBody>
      </p:sp>
      <p:sp>
        <p:nvSpPr>
          <p:cNvPr id="15" name="loop-card-2">
            <a:extLst xmlns:a="http://schemas.openxmlformats.org/drawingml/2006/main">
              <a:ext uri="{FF2B5EF4-FFF2-40B4-BE49-F238E27FC236}">
                <a16:creationId xmlns:a16="http://schemas.microsoft.com/office/drawing/2014/main" id="{D28360DC-D6E1-4F71-9C45-BAAF002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524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6" name="loop-num-2">
            <a:extLst xmlns:a="http://schemas.openxmlformats.org/drawingml/2006/main">
              <a:ext uri="{FF2B5EF4-FFF2-40B4-BE49-F238E27FC236}">
                <a16:creationId xmlns:a16="http://schemas.microsoft.com/office/drawing/2014/main" id="{55144DA3-4206-458A-9222-5A20B0A3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47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7" name="loop-label-2">
            <a:extLst xmlns:a="http://schemas.openxmlformats.org/drawingml/2006/main">
              <a:ext uri="{FF2B5EF4-FFF2-40B4-BE49-F238E27FC236}">
                <a16:creationId xmlns:a16="http://schemas.microsoft.com/office/drawing/2014/main" id="{90EB5BAE-4AE3-4BD5-ABD4-28F51C21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Improve</a:t>
            </a:r>
          </a:p>
        </p:txBody>
      </p:sp>
      <p:sp>
        <p:nvSpPr>
          <p:cNvPr id="18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A2BC6F0-10DA-44FE-B2B2-8563FE21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Return a corrected answer when the first response is weak.</a:t>
            </a:r>
          </a:p>
        </p:txBody>
      </p:sp>
      <p:sp>
        <p:nvSpPr>
          <p:cNvPr id="19" name="loop-card-3">
            <a:extLst xmlns:a="http://schemas.openxmlformats.org/drawingml/2006/main">
              <a:ext uri="{FF2B5EF4-FFF2-40B4-BE49-F238E27FC236}">
                <a16:creationId xmlns:a16="http://schemas.microsoft.com/office/drawing/2014/main" id="{98EF0F9D-A9FA-436D-BAAE-DE4AA5E8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05050"/>
            <a:ext cx="2524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</p:spPr>
      </p:sp>
      <p:sp>
        <p:nvSpPr>
          <p:cNvPr id="20" name="loop-num-3">
            <a:extLst xmlns:a="http://schemas.openxmlformats.org/drawingml/2006/main">
              <a:ext uri="{FF2B5EF4-FFF2-40B4-BE49-F238E27FC236}">
                <a16:creationId xmlns:a16="http://schemas.microsoft.com/office/drawing/2014/main" id="{0EEF7A2A-BF05-4500-9F6D-B91DE78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14600"/>
            <a:ext cx="47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21" name="loop-label-3">
            <a:extLst xmlns:a="http://schemas.openxmlformats.org/drawingml/2006/main">
              <a:ext uri="{FF2B5EF4-FFF2-40B4-BE49-F238E27FC236}">
                <a16:creationId xmlns:a16="http://schemas.microsoft.com/office/drawing/2014/main" id="{98C09BBC-3DB8-47C4-A663-AD4C89E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Learn</a:t>
            </a:r>
          </a:p>
        </p:txBody>
      </p:sp>
      <p:sp>
        <p:nvSpPr>
          <p:cNvPr id="22" name="loop-body-3">
            <a:extLst xmlns:a="http://schemas.openxmlformats.org/drawingml/2006/main">
              <a:ext uri="{FF2B5EF4-FFF2-40B4-BE49-F238E27FC236}">
                <a16:creationId xmlns:a16="http://schemas.microsoft.com/office/drawing/2014/main" id="{FA1DEDFD-C0D9-4AB0-8132-08E510A2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Retain a short, reusable rule for future prompts.</a:t>
            </a:r>
          </a:p>
        </p:txBody>
      </p:sp>
      <p:sp>
        <p:nvSpPr>
          <p:cNvPr id="23" name="loop-control-band">
            <a:extLst xmlns:a="http://schemas.openxmlformats.org/drawingml/2006/main">
              <a:ext uri="{FF2B5EF4-FFF2-40B4-BE49-F238E27FC236}">
                <a16:creationId xmlns:a16="http://schemas.microsoft.com/office/drawing/2014/main" id="{D03BC299-0367-46A0-AE94-5CEEC07E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</p:spPr>
      </p:sp>
      <p:sp>
        <p:nvSpPr>
          <p:cNvPr id="24" name="loop-control-label">
            <a:extLst xmlns:a="http://schemas.openxmlformats.org/drawingml/2006/main">
              <a:ext uri="{FF2B5EF4-FFF2-40B4-BE49-F238E27FC236}">
                <a16:creationId xmlns:a16="http://schemas.microsoft.com/office/drawing/2014/main" id="{9E8F4FDA-E22A-4BDE-8A88-D124B75F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t>Guardrails</a:t>
            </a:r>
          </a:p>
        </p:txBody>
      </p:sp>
      <p:sp>
        <p:nvSpPr>
          <p:cNvPr id="25" name="loop-control-body">
            <a:extLst xmlns:a="http://schemas.openxmlformats.org/drawingml/2006/main">
              <a:ext uri="{FF2B5EF4-FFF2-40B4-BE49-F238E27FC236}">
                <a16:creationId xmlns:a16="http://schemas.microsoft.com/office/drawing/2014/main" id="{2F1607CF-8BFB-4482-AC9E-00D170CD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914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t>Prompt-scoped · deduplicated · capped · injection-like lessons rejected · visible via /learning · reversible</a:t>
            </a:r>
          </a:p>
        </p:txBody>
      </p:sp>
      <p:sp>
        <p:nvSpPr>
          <p:cNvPr id="26" name="source-6">
            <a:extLst xmlns:a="http://schemas.openxmlformats.org/drawingml/2006/main">
              <a:ext uri="{FF2B5EF4-FFF2-40B4-BE49-F238E27FC236}">
                <a16:creationId xmlns:a16="http://schemas.microsoft.com/office/drawing/2014/main" id="{B463C343-6D14-4588-B8A7-AF180CA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330829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C0CBA0C4-230B-44A4-8938-D43350B5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Control foundations exist; production assurance does not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C83A53FC-B29F-4ABC-81F4-979C03F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7</a:t>
            </a:r>
          </a:p>
        </p:txBody>
      </p:sp>
      <p:sp>
        <p:nvSpPr>
          <p:cNvPr id="3" name="gov-h1">
            <a:extLst xmlns:a="http://schemas.openxmlformats.org/drawingml/2006/main">
              <a:ext uri="{FF2B5EF4-FFF2-40B4-BE49-F238E27FC236}">
                <a16:creationId xmlns:a16="http://schemas.microsoft.com/office/drawing/2014/main" id="{979E3634-9019-4FA5-93A3-655DD16A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Domain</a:t>
            </a:r>
          </a:p>
        </p:txBody>
      </p:sp>
      <p:sp>
        <p:nvSpPr>
          <p:cNvPr id="4" name="gov-h2">
            <a:extLst xmlns:a="http://schemas.openxmlformats.org/drawingml/2006/main">
              <a:ext uri="{FF2B5EF4-FFF2-40B4-BE49-F238E27FC236}">
                <a16:creationId xmlns:a16="http://schemas.microsoft.com/office/drawing/2014/main" id="{1956BBE0-4BD1-4E63-8A25-A1A983B1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47800"/>
            <a:ext cx="3905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Implemented in the PoC</a:t>
            </a:r>
          </a:p>
        </p:txBody>
      </p:sp>
      <p:sp>
        <p:nvSpPr>
          <p:cNvPr id="5" name="gov-h3">
            <a:extLst xmlns:a="http://schemas.openxmlformats.org/drawingml/2006/main">
              <a:ext uri="{FF2B5EF4-FFF2-40B4-BE49-F238E27FC236}">
                <a16:creationId xmlns:a16="http://schemas.microsoft.com/office/drawing/2014/main" id="{A73B97CC-8F48-46BB-B4CF-75D5D84B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Required for enterprise use</a:t>
            </a:r>
          </a:p>
        </p:txBody>
      </p:sp>
      <p:sp>
        <p:nvSpPr>
          <p:cNvPr id="6" name="gov-head-rule">
            <a:extLst xmlns:a="http://schemas.openxmlformats.org/drawingml/2006/main">
              <a:ext uri="{FF2B5EF4-FFF2-40B4-BE49-F238E27FC236}">
                <a16:creationId xmlns:a16="http://schemas.microsoft.com/office/drawing/2014/main" id="{04FF2AA4-891D-4AAB-A4D8-E56448D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</p:spPr>
      </p:sp>
      <p:sp>
        <p:nvSpPr>
          <p:cNvPr id="7" name="gov-row-bg-0">
            <a:extLst xmlns:a="http://schemas.openxmlformats.org/drawingml/2006/main">
              <a:ext uri="{FF2B5EF4-FFF2-40B4-BE49-F238E27FC236}">
                <a16:creationId xmlns:a16="http://schemas.microsoft.com/office/drawing/2014/main" id="{C813ABFE-9312-460D-985C-227ACBF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</p:spPr>
      </p:sp>
      <p:sp>
        <p:nvSpPr>
          <p:cNvPr id="8" name="gov-domain-0">
            <a:extLst xmlns:a="http://schemas.openxmlformats.org/drawingml/2006/main">
              <a:ext uri="{FF2B5EF4-FFF2-40B4-BE49-F238E27FC236}">
                <a16:creationId xmlns:a16="http://schemas.microsoft.com/office/drawing/2014/main" id="{6C3AAFF6-11A2-4D94-829E-1876023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657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t>Data locality</a:t>
            </a:r>
          </a:p>
        </p:txBody>
      </p:sp>
      <p:sp>
        <p:nvSpPr>
          <p:cNvPr id="9" name="gov-current-0">
            <a:extLst xmlns:a="http://schemas.openxmlformats.org/drawingml/2006/main">
              <a:ext uri="{FF2B5EF4-FFF2-40B4-BE49-F238E27FC236}">
                <a16:creationId xmlns:a16="http://schemas.microsoft.com/office/drawing/2014/main" id="{730A6757-3DF0-4206-BBD4-121D2CAC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382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Local model, state and vector DB paths</a:t>
            </a:r>
          </a:p>
        </p:txBody>
      </p:sp>
      <p:sp>
        <p:nvSpPr>
          <p:cNvPr id="10" name="gov-required-0">
            <a:extLst xmlns:a="http://schemas.openxmlformats.org/drawingml/2006/main">
              <a:ext uri="{FF2B5EF4-FFF2-40B4-BE49-F238E27FC236}">
                <a16:creationId xmlns:a16="http://schemas.microsoft.com/office/drawing/2014/main" id="{A96DFDB9-7584-4DDC-91AD-954E748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Host access, encryption and retention controls</a:t>
            </a:r>
          </a:p>
        </p:txBody>
      </p:sp>
      <p:sp>
        <p:nvSpPr>
          <p:cNvPr id="11" name="gov-rule-0">
            <a:extLst xmlns:a="http://schemas.openxmlformats.org/drawingml/2006/main">
              <a:ext uri="{FF2B5EF4-FFF2-40B4-BE49-F238E27FC236}">
                <a16:creationId xmlns:a16="http://schemas.microsoft.com/office/drawing/2014/main" id="{0BFF08B2-9B84-4127-955E-5992B5EB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2" name="gov-domain-1">
            <a:extLst xmlns:a="http://schemas.openxmlformats.org/drawingml/2006/main">
              <a:ext uri="{FF2B5EF4-FFF2-40B4-BE49-F238E27FC236}">
                <a16:creationId xmlns:a16="http://schemas.microsoft.com/office/drawing/2014/main" id="{8D6609D3-6C90-4B51-898D-C04B48A7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657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t>Traceability</a:t>
            </a:r>
          </a:p>
        </p:txBody>
      </p:sp>
      <p:sp>
        <p:nvSpPr>
          <p:cNvPr id="13" name="gov-current-1">
            <a:extLst xmlns:a="http://schemas.openxmlformats.org/drawingml/2006/main">
              <a:ext uri="{FF2B5EF4-FFF2-40B4-BE49-F238E27FC236}">
                <a16:creationId xmlns:a16="http://schemas.microsoft.com/office/drawing/2014/main" id="{3391CDBF-B4A4-437E-8224-9E3B24F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82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Memory inspector, metadata and vector previews</a:t>
            </a:r>
          </a:p>
        </p:txBody>
      </p:sp>
      <p:sp>
        <p:nvSpPr>
          <p:cNvPr id="14" name="gov-required-1">
            <a:extLst xmlns:a="http://schemas.openxmlformats.org/drawingml/2006/main">
              <a:ext uri="{FF2B5EF4-FFF2-40B4-BE49-F238E27FC236}">
                <a16:creationId xmlns:a16="http://schemas.microsoft.com/office/drawing/2014/main" id="{53250700-97F1-4274-8F34-AF73B41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Audit log and policy-grade provenance</a:t>
            </a:r>
          </a:p>
        </p:txBody>
      </p:sp>
      <p:sp>
        <p:nvSpPr>
          <p:cNvPr id="15" name="gov-rule-1">
            <a:extLst xmlns:a="http://schemas.openxmlformats.org/drawingml/2006/main">
              <a:ext uri="{FF2B5EF4-FFF2-40B4-BE49-F238E27FC236}">
                <a16:creationId xmlns:a16="http://schemas.microsoft.com/office/drawing/2014/main" id="{7ADBDE9D-79D8-4348-AC6E-84F0F94F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6" name="gov-row-bg-2">
            <a:extLst xmlns:a="http://schemas.openxmlformats.org/drawingml/2006/main">
              <a:ext uri="{FF2B5EF4-FFF2-40B4-BE49-F238E27FC236}">
                <a16:creationId xmlns:a16="http://schemas.microsoft.com/office/drawing/2014/main" id="{09BE2DA1-663D-4AA0-BF44-DCD96570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</p:spPr>
      </p:sp>
      <p:sp>
        <p:nvSpPr>
          <p:cNvPr id="17" name="gov-domain-2">
            <a:extLst xmlns:a="http://schemas.openxmlformats.org/drawingml/2006/main">
              <a:ext uri="{FF2B5EF4-FFF2-40B4-BE49-F238E27FC236}">
                <a16:creationId xmlns:a16="http://schemas.microsoft.com/office/drawing/2014/main" id="{A878E19E-D4FC-4950-B081-A3D328B6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1657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t>Quality</a:t>
            </a:r>
          </a:p>
        </p:txBody>
      </p:sp>
      <p:sp>
        <p:nvSpPr>
          <p:cNvPr id="18" name="gov-current-2">
            <a:extLst xmlns:a="http://schemas.openxmlformats.org/drawingml/2006/main">
              <a:ext uri="{FF2B5EF4-FFF2-40B4-BE49-F238E27FC236}">
                <a16:creationId xmlns:a16="http://schemas.microsoft.com/office/drawing/2014/main" id="{B3C82460-7D89-4BC5-9640-91A0DBC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62350"/>
            <a:ext cx="382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Validation score, improved reply and learned guidance</a:t>
            </a:r>
          </a:p>
        </p:txBody>
      </p:sp>
      <p:sp>
        <p:nvSpPr>
          <p:cNvPr id="19" name="gov-required-2">
            <a:extLst xmlns:a="http://schemas.openxmlformats.org/drawingml/2006/main">
              <a:ext uri="{FF2B5EF4-FFF2-40B4-BE49-F238E27FC236}">
                <a16:creationId xmlns:a16="http://schemas.microsoft.com/office/drawing/2014/main" id="{906E4305-78F8-4E76-B41F-C665434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Independent evaluation set and acceptance thresholds</a:t>
            </a:r>
          </a:p>
        </p:txBody>
      </p:sp>
      <p:sp>
        <p:nvSpPr>
          <p:cNvPr id="20" name="gov-rule-2">
            <a:extLst xmlns:a="http://schemas.openxmlformats.org/drawingml/2006/main">
              <a:ext uri="{FF2B5EF4-FFF2-40B4-BE49-F238E27FC236}">
                <a16:creationId xmlns:a16="http://schemas.microsoft.com/office/drawing/2014/main" id="{0BBA89C8-5F92-4D73-8D99-F27B951D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1" name="gov-domain-3">
            <a:extLst xmlns:a="http://schemas.openxmlformats.org/drawingml/2006/main">
              <a:ext uri="{FF2B5EF4-FFF2-40B4-BE49-F238E27FC236}">
                <a16:creationId xmlns:a16="http://schemas.microsoft.com/office/drawing/2014/main" id="{AB33302B-E5C9-4079-A713-28C249EA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657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t>Recovery</a:t>
            </a:r>
          </a:p>
        </p:txBody>
      </p:sp>
      <p:sp>
        <p:nvSpPr>
          <p:cNvPr id="22" name="gov-current-3">
            <a:extLst xmlns:a="http://schemas.openxmlformats.org/drawingml/2006/main">
              <a:ext uri="{FF2B5EF4-FFF2-40B4-BE49-F238E27FC236}">
                <a16:creationId xmlns:a16="http://schemas.microsoft.com/office/drawing/2014/main" id="{2BFA20EB-FAA6-476F-AFA8-F7752B2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43400"/>
            <a:ext cx="382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Backup-before-reset with identity preserved</a:t>
            </a:r>
          </a:p>
        </p:txBody>
      </p:sp>
      <p:sp>
        <p:nvSpPr>
          <p:cNvPr id="23" name="gov-required-3">
            <a:extLst xmlns:a="http://schemas.openxmlformats.org/drawingml/2006/main">
              <a:ext uri="{FF2B5EF4-FFF2-40B4-BE49-F238E27FC236}">
                <a16:creationId xmlns:a16="http://schemas.microsoft.com/office/drawing/2014/main" id="{7F9A895A-A347-4ED1-BDF0-C2083FAA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Managed backup lifecycle and restore testing</a:t>
            </a:r>
          </a:p>
        </p:txBody>
      </p:sp>
      <p:sp>
        <p:nvSpPr>
          <p:cNvPr id="24" name="gov-rule-3">
            <a:extLst xmlns:a="http://schemas.openxmlformats.org/drawingml/2006/main">
              <a:ext uri="{FF2B5EF4-FFF2-40B4-BE49-F238E27FC236}">
                <a16:creationId xmlns:a16="http://schemas.microsoft.com/office/drawing/2014/main" id="{5941D271-0499-45DA-BE4E-640D1D5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5" name="gov-row-bg-4">
            <a:extLst xmlns:a="http://schemas.openxmlformats.org/drawingml/2006/main">
              <a:ext uri="{FF2B5EF4-FFF2-40B4-BE49-F238E27FC236}">
                <a16:creationId xmlns:a16="http://schemas.microsoft.com/office/drawing/2014/main" id="{6A36D1B8-3514-49D8-B68D-E28912E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</p:spPr>
      </p:sp>
      <p:sp>
        <p:nvSpPr>
          <p:cNvPr id="26" name="gov-domain-4">
            <a:extLst xmlns:a="http://schemas.openxmlformats.org/drawingml/2006/main">
              <a:ext uri="{FF2B5EF4-FFF2-40B4-BE49-F238E27FC236}">
                <a16:creationId xmlns:a16="http://schemas.microsoft.com/office/drawing/2014/main" id="{DBA014ED-A04F-4118-A4DB-C66359F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657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t>External data</a:t>
            </a:r>
          </a:p>
        </p:txBody>
      </p:sp>
      <p:sp>
        <p:nvSpPr>
          <p:cNvPr id="27" name="gov-current-4">
            <a:extLst xmlns:a="http://schemas.openxmlformats.org/drawingml/2006/main">
              <a:ext uri="{FF2B5EF4-FFF2-40B4-BE49-F238E27FC236}">
                <a16:creationId xmlns:a16="http://schemas.microsoft.com/office/drawing/2014/main" id="{8ECB85BA-2E5E-4292-A98A-74BA8F4D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24450"/>
            <a:ext cx="382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Search snippets and direct URL retrieval</a:t>
            </a:r>
          </a:p>
        </p:txBody>
      </p:sp>
      <p:sp>
        <p:nvSpPr>
          <p:cNvPr id="28" name="gov-required-4">
            <a:extLst xmlns:a="http://schemas.openxmlformats.org/drawingml/2006/main">
              <a:ext uri="{FF2B5EF4-FFF2-40B4-BE49-F238E27FC236}">
                <a16:creationId xmlns:a16="http://schemas.microsoft.com/office/drawing/2014/main" id="{AB3E1884-8F0E-4DFE-9FB4-7094D6D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2445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</a:defRPr>
            </a:pPr>
            <a:r>
              <a:t>Approved connectors, source policy and content controls</a:t>
            </a:r>
          </a:p>
        </p:txBody>
      </p:sp>
      <p:sp>
        <p:nvSpPr>
          <p:cNvPr id="29" name="gov-rule-4">
            <a:extLst xmlns:a="http://schemas.openxmlformats.org/drawingml/2006/main">
              <a:ext uri="{FF2B5EF4-FFF2-40B4-BE49-F238E27FC236}">
                <a16:creationId xmlns:a16="http://schemas.microsoft.com/office/drawing/2014/main" id="{407D4DFA-950D-4BCD-9B37-892E1B2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0" name="source-7">
            <a:extLst xmlns:a="http://schemas.openxmlformats.org/drawingml/2006/main">
              <a:ext uri="{FF2B5EF4-FFF2-40B4-BE49-F238E27FC236}">
                <a16:creationId xmlns:a16="http://schemas.microsoft.com/office/drawing/2014/main" id="{008B9830-50DC-4214-9CB3-39CEE0D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204451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DD1956C6-8B61-4333-B106-D0780BC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From PoC to a controlled enterprise pilot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37478FF1-2DDC-43F3-A94C-BD92F15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8</a:t>
            </a:r>
          </a:p>
        </p:txBody>
      </p:sp>
      <p:sp>
        <p:nvSpPr>
          <p:cNvPr id="3" name="roadmap-subtitle">
            <a:extLst xmlns:a="http://schemas.openxmlformats.org/drawingml/2006/main">
              <a:ext uri="{FF2B5EF4-FFF2-40B4-BE49-F238E27FC236}">
                <a16:creationId xmlns:a16="http://schemas.microsoft.com/office/drawing/2014/main" id="{5F69DB1B-9EAF-471E-9478-1A5C75B0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Sequence investment behind evidence. Avoid turning a broad prototype into an ungoverned internal platform.</a:t>
            </a:r>
          </a:p>
        </p:txBody>
      </p:sp>
      <p:sp>
        <p:nvSpPr>
          <p:cNvPr id="4" name="road-card-0">
            <a:extLst xmlns:a="http://schemas.openxmlformats.org/drawingml/2006/main">
              <a:ext uri="{FF2B5EF4-FFF2-40B4-BE49-F238E27FC236}">
                <a16:creationId xmlns:a16="http://schemas.microsoft.com/office/drawing/2014/main" id="{455F934E-5467-4D4A-BFCA-0570D1D4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562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5" name="road-num-0">
            <a:extLst xmlns:a="http://schemas.openxmlformats.org/drawingml/2006/main">
              <a:ext uri="{FF2B5EF4-FFF2-40B4-BE49-F238E27FC236}">
                <a16:creationId xmlns:a16="http://schemas.microsoft.com/office/drawing/2014/main" id="{AFD35CFA-7040-474E-B46F-30A1F871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1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6" name="road-label-0">
            <a:extLst xmlns:a="http://schemas.openxmlformats.org/drawingml/2006/main">
              <a:ext uri="{FF2B5EF4-FFF2-40B4-BE49-F238E27FC236}">
                <a16:creationId xmlns:a16="http://schemas.microsoft.com/office/drawing/2014/main" id="{627CCE36-68EE-4E7C-9CDE-3994D966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t>Stabilize</a:t>
            </a:r>
          </a:p>
        </p:txBody>
      </p:sp>
      <p:sp>
        <p:nvSpPr>
          <p:cNvPr id="7" name="road-timing-0">
            <a:extLst xmlns:a="http://schemas.openxmlformats.org/drawingml/2006/main">
              <a:ext uri="{FF2B5EF4-FFF2-40B4-BE49-F238E27FC236}">
                <a16:creationId xmlns:a16="http://schemas.microsoft.com/office/drawing/2014/main" id="{BC30E4C6-AF9A-4626-93FA-997E8EDF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2–4 weeks</a:t>
            </a:r>
          </a:p>
        </p:txBody>
      </p:sp>
      <p:sp>
        <p:nvSpPr>
          <p:cNvPr id="8" name="road-body-0">
            <a:extLst xmlns:a="http://schemas.openxmlformats.org/drawingml/2006/main">
              <a:ext uri="{FF2B5EF4-FFF2-40B4-BE49-F238E27FC236}">
                <a16:creationId xmlns:a16="http://schemas.microsoft.com/office/drawing/2014/main" id="{51C58270-3AAA-4478-A1B7-B759AE8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424"/>
                </a:solidFill>
              </a:defRPr>
            </a:pPr>
            <a:r>
              <a:t>Configuration cleanup
Error handling
Telemetry
Evaluation harness</a:t>
            </a:r>
          </a:p>
        </p:txBody>
      </p:sp>
      <p:sp>
        <p:nvSpPr>
          <p:cNvPr id="9" name="road-card-1">
            <a:extLst xmlns:a="http://schemas.openxmlformats.org/drawingml/2006/main">
              <a:ext uri="{FF2B5EF4-FFF2-40B4-BE49-F238E27FC236}">
                <a16:creationId xmlns:a16="http://schemas.microsoft.com/office/drawing/2014/main" id="{299A0107-CD38-4BB4-BC38-2481A53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562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</p:spPr>
      </p:sp>
      <p:sp>
        <p:nvSpPr>
          <p:cNvPr id="10" name="road-num-1">
            <a:extLst xmlns:a="http://schemas.openxmlformats.org/drawingml/2006/main">
              <a:ext uri="{FF2B5EF4-FFF2-40B4-BE49-F238E27FC236}">
                <a16:creationId xmlns:a16="http://schemas.microsoft.com/office/drawing/2014/main" id="{8117BD6B-668A-4071-9E78-F774047E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1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1" name="road-label-1">
            <a:extLst xmlns:a="http://schemas.openxmlformats.org/drawingml/2006/main">
              <a:ext uri="{FF2B5EF4-FFF2-40B4-BE49-F238E27FC236}">
                <a16:creationId xmlns:a16="http://schemas.microsoft.com/office/drawing/2014/main" id="{0D8E5480-E465-4B2C-A79C-43F2596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t>Pilot</a:t>
            </a:r>
          </a:p>
        </p:txBody>
      </p:sp>
      <p:sp>
        <p:nvSpPr>
          <p:cNvPr id="12" name="road-timing-1">
            <a:extLst xmlns:a="http://schemas.openxmlformats.org/drawingml/2006/main">
              <a:ext uri="{FF2B5EF4-FFF2-40B4-BE49-F238E27FC236}">
                <a16:creationId xmlns:a16="http://schemas.microsoft.com/office/drawing/2014/main" id="{E2206B1A-7E8A-4E29-8C0B-47B2C03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6–8 weeks</a:t>
            </a:r>
          </a:p>
        </p:txBody>
      </p:sp>
      <p:sp>
        <p:nvSpPr>
          <p:cNvPr id="13" name="road-body-1">
            <a:extLst xmlns:a="http://schemas.openxmlformats.org/drawingml/2006/main">
              <a:ext uri="{FF2B5EF4-FFF2-40B4-BE49-F238E27FC236}">
                <a16:creationId xmlns:a16="http://schemas.microsoft.com/office/drawing/2014/main" id="{296D0710-5137-4340-BB04-2C189D12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424"/>
                </a:solidFill>
              </a:defRPr>
            </a:pPr>
            <a:r>
              <a:t>One use case
Named users
Curated knowledge
Human review</a:t>
            </a:r>
          </a:p>
        </p:txBody>
      </p:sp>
      <p:sp>
        <p:nvSpPr>
          <p:cNvPr id="14" name="road-card-2">
            <a:extLst xmlns:a="http://schemas.openxmlformats.org/drawingml/2006/main">
              <a:ext uri="{FF2B5EF4-FFF2-40B4-BE49-F238E27FC236}">
                <a16:creationId xmlns:a16="http://schemas.microsoft.com/office/drawing/2014/main" id="{A8707478-F3B7-4A85-BBA8-3D9DEB9F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3562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5" name="road-num-2">
            <a:extLst xmlns:a="http://schemas.openxmlformats.org/drawingml/2006/main">
              <a:ext uri="{FF2B5EF4-FFF2-40B4-BE49-F238E27FC236}">
                <a16:creationId xmlns:a16="http://schemas.microsoft.com/office/drawing/2014/main" id="{A612EC35-D6D0-4DAD-90B5-EAC1026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41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6" name="road-label-2">
            <a:extLst xmlns:a="http://schemas.openxmlformats.org/drawingml/2006/main">
              <a:ext uri="{FF2B5EF4-FFF2-40B4-BE49-F238E27FC236}">
                <a16:creationId xmlns:a16="http://schemas.microsoft.com/office/drawing/2014/main" id="{913EEE11-25C9-4E15-9EE1-3C68940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t>Industrialize</a:t>
            </a:r>
          </a:p>
        </p:txBody>
      </p:sp>
      <p:sp>
        <p:nvSpPr>
          <p:cNvPr id="17" name="road-timing-2">
            <a:extLst xmlns:a="http://schemas.openxmlformats.org/drawingml/2006/main">
              <a:ext uri="{FF2B5EF4-FFF2-40B4-BE49-F238E27FC236}">
                <a16:creationId xmlns:a16="http://schemas.microsoft.com/office/drawing/2014/main" id="{0B56279B-5506-4A17-95D1-B894640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5B5B"/>
                </a:solidFill>
              </a:defRPr>
            </a:pPr>
            <a:r>
              <a:t>after evidence</a:t>
            </a:r>
          </a:p>
        </p:txBody>
      </p:sp>
      <p:sp>
        <p:nvSpPr>
          <p:cNvPr id="18" name="road-body-2">
            <a:extLst xmlns:a="http://schemas.openxmlformats.org/drawingml/2006/main">
              <a:ext uri="{FF2B5EF4-FFF2-40B4-BE49-F238E27FC236}">
                <a16:creationId xmlns:a16="http://schemas.microsoft.com/office/drawing/2014/main" id="{371A3B58-993F-43CC-9FCB-54DE3910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424"/>
                </a:solidFill>
              </a:defRPr>
            </a:pPr>
            <a:r>
              <a:t>Identity and access
Policy connectors
Auditability
Deployment automation</a:t>
            </a:r>
          </a:p>
        </p:txBody>
      </p:sp>
      <p:sp>
        <p:nvSpPr>
          <p:cNvPr id="19" name="road-gates">
            <a:extLst xmlns:a="http://schemas.openxmlformats.org/drawingml/2006/main">
              <a:ext uri="{FF2B5EF4-FFF2-40B4-BE49-F238E27FC236}">
                <a16:creationId xmlns:a16="http://schemas.microsoft.com/office/drawing/2014/main" id="{8340E649-BCBA-4F6D-B59E-72BA4A5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076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A0A0A"/>
                </a:solidFill>
              </a:defRPr>
            </a:pPr>
            <a:r>
              <a:t>Pilot success gates: answer quality · groundedness · latency · user value · operating cost · control compliance</a:t>
            </a:r>
          </a:p>
        </p:txBody>
      </p:sp>
      <p:sp>
        <p:nvSpPr>
          <p:cNvPr id="20" name="source-8">
            <a:extLst xmlns:a="http://schemas.openxmlformats.org/drawingml/2006/main">
              <a:ext uri="{FF2B5EF4-FFF2-40B4-BE49-F238E27FC236}">
                <a16:creationId xmlns:a16="http://schemas.microsoft.com/office/drawing/2014/main" id="{CD2432FF-CD2F-4F07-A6EE-7DEBBF2D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179357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0DE4ED88-772D-451E-B511-14690508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096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A0A0A"/>
                </a:solidFill>
              </a:defRPr>
            </a:pPr>
            <a:r>
              <a:t>Recommended CIO decision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741D008C-F983-46D5-B709-163094B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9</a:t>
            </a:r>
          </a:p>
        </p:txBody>
      </p:sp>
      <p:sp>
        <p:nvSpPr>
          <p:cNvPr id="3" name="decision-statement">
            <a:extLst xmlns:a="http://schemas.openxmlformats.org/drawingml/2006/main">
              <a:ext uri="{FF2B5EF4-FFF2-40B4-BE49-F238E27FC236}">
                <a16:creationId xmlns:a16="http://schemas.microsoft.com/office/drawing/2014/main" id="{F3247740-B7C9-47E6-9732-2A78A119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287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A0A0A"/>
                </a:solidFill>
              </a:defRPr>
            </a:pPr>
            <a:r>
              <a:t>Proceed to a narrow, controlled pilot — not a general enterprise rollout.</a:t>
            </a:r>
          </a:p>
        </p:txBody>
      </p:sp>
      <p:sp>
        <p:nvSpPr>
          <p:cNvPr id="4" name="decision-mark-0">
            <a:extLst xmlns:a="http://schemas.openxmlformats.org/drawingml/2006/main">
              <a:ext uri="{FF2B5EF4-FFF2-40B4-BE49-F238E27FC236}">
                <a16:creationId xmlns:a16="http://schemas.microsoft.com/office/drawing/2014/main" id="{3D52448A-406C-4B1D-B007-54A8525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5" name="decision-label-0">
            <a:extLst xmlns:a="http://schemas.openxmlformats.org/drawingml/2006/main">
              <a:ext uri="{FF2B5EF4-FFF2-40B4-BE49-F238E27FC236}">
                <a16:creationId xmlns:a16="http://schemas.microsoft.com/office/drawing/2014/main" id="{9E7C7050-1E7A-4F96-8095-75B391E5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Sponsor</a:t>
            </a:r>
          </a:p>
        </p:txBody>
      </p:sp>
      <p:sp>
        <p:nvSpPr>
          <p:cNvPr id="6" name="decision-body-0">
            <a:extLst xmlns:a="http://schemas.openxmlformats.org/drawingml/2006/main">
              <a:ext uri="{FF2B5EF4-FFF2-40B4-BE49-F238E27FC236}">
                <a16:creationId xmlns:a16="http://schemas.microsoft.com/office/drawing/2014/main" id="{8D4717C3-73AC-4ECE-BB9E-CF3E3665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2766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424"/>
                </a:solidFill>
              </a:defRPr>
            </a:pPr>
            <a:r>
              <a:t>Select one bounded, knowledge-intensive internal use case.</a:t>
            </a:r>
          </a:p>
        </p:txBody>
      </p:sp>
      <p:sp>
        <p:nvSpPr>
          <p:cNvPr id="7" name="decision-mark-1">
            <a:extLst xmlns:a="http://schemas.openxmlformats.org/drawingml/2006/main">
              <a:ext uri="{FF2B5EF4-FFF2-40B4-BE49-F238E27FC236}">
                <a16:creationId xmlns:a16="http://schemas.microsoft.com/office/drawing/2014/main" id="{4E10EBA8-7D02-4550-BAC4-9FA2178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8" name="decision-label-1">
            <a:extLst xmlns:a="http://schemas.openxmlformats.org/drawingml/2006/main">
              <a:ext uri="{FF2B5EF4-FFF2-40B4-BE49-F238E27FC236}">
                <a16:creationId xmlns:a16="http://schemas.microsoft.com/office/drawing/2014/main" id="{6EF57931-98FC-4F2C-B080-04C9C24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47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Govern</a:t>
            </a:r>
          </a:p>
        </p:txBody>
      </p:sp>
      <p:sp>
        <p:nvSpPr>
          <p:cNvPr id="9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1AFFF516-99B3-44C9-AA82-6524715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05300"/>
            <a:ext cx="32766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424"/>
                </a:solidFill>
              </a:defRPr>
            </a:pPr>
            <a:r>
              <a:t>Name data, security, risk and business owners before pilot access.</a:t>
            </a:r>
          </a:p>
        </p:txBody>
      </p:sp>
      <p:sp>
        <p:nvSpPr>
          <p:cNvPr id="10" name="decision-mark-2">
            <a:extLst xmlns:a="http://schemas.openxmlformats.org/drawingml/2006/main">
              <a:ext uri="{FF2B5EF4-FFF2-40B4-BE49-F238E27FC236}">
                <a16:creationId xmlns:a16="http://schemas.microsoft.com/office/drawing/2014/main" id="{72B98646-95E8-4DBB-9FB8-B18DA7D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1" name="decision-label-2">
            <a:extLst xmlns:a="http://schemas.openxmlformats.org/drawingml/2006/main">
              <a:ext uri="{FF2B5EF4-FFF2-40B4-BE49-F238E27FC236}">
                <a16:creationId xmlns:a16="http://schemas.microsoft.com/office/drawing/2014/main" id="{74C4EB5C-7751-4A10-BD7F-5058E0FF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t>Measure</a:t>
            </a:r>
          </a:p>
        </p:txBody>
      </p:sp>
      <p:sp>
        <p:nvSpPr>
          <p:cNvPr id="12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511CACD9-99C9-4DBA-A2E7-EEF2B778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2766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424"/>
                </a:solidFill>
              </a:defRPr>
            </a:pPr>
            <a:r>
              <a:t>Approve explicit quality, cost, latency and control success gates.</a:t>
            </a:r>
          </a:p>
        </p:txBody>
      </p:sp>
      <p:sp>
        <p:nvSpPr>
          <p:cNvPr id="13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EA61177F-BB5E-4472-A30F-163A45F0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</p:spPr>
      </p:sp>
      <p:sp>
        <p:nvSpPr>
          <p:cNvPr id="14" name="decision-band-copy">
            <a:extLst xmlns:a="http://schemas.openxmlformats.org/drawingml/2006/main">
              <a:ext uri="{FF2B5EF4-FFF2-40B4-BE49-F238E27FC236}">
                <a16:creationId xmlns:a16="http://schemas.microsoft.com/office/drawing/2014/main" id="{6564594E-4A5A-4EA4-8CD5-DCFA6008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8108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t>The PoC has earned the right to be evaluated. The next investment should buy evidence, controls and operational learning.</a:t>
            </a:r>
          </a:p>
        </p:txBody>
      </p:sp>
      <p:sp>
        <p:nvSpPr>
          <p:cNvPr id="15" name="source-9">
            <a:extLst xmlns:a="http://schemas.openxmlformats.org/drawingml/2006/main">
              <a:ext uri="{FF2B5EF4-FFF2-40B4-BE49-F238E27FC236}">
                <a16:creationId xmlns:a16="http://schemas.microsoft.com/office/drawing/2014/main" id="{8F5B3715-925B-4403-9D4B-F483AD69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1266674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2026-06-24T11:46:26.0550000Z</dcterms:created>
  <dcterms:modified xsi:type="dcterms:W3CDTF">2026-06-24T11:46:26.0550000Z</dcterms:modified>
</coreProperties>
</file>